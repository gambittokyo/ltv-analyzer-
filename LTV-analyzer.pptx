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6"/>
  </p:notesMasterIdLst>
  <p:handoutMasterIdLst>
    <p:handoutMasterId r:id="rId67"/>
  </p:handoutMasterIdLst>
  <p:sldIdLst>
    <p:sldId id="256" r:id="rId5"/>
    <p:sldId id="278" r:id="rId6"/>
    <p:sldId id="257" r:id="rId7"/>
    <p:sldId id="279" r:id="rId8"/>
    <p:sldId id="280" r:id="rId9"/>
    <p:sldId id="282" r:id="rId10"/>
    <p:sldId id="299" r:id="rId11"/>
    <p:sldId id="355" r:id="rId12"/>
    <p:sldId id="301" r:id="rId13"/>
    <p:sldId id="302" r:id="rId14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0" userDrawn="1">
          <p15:clr>
            <a:srgbClr val="A4A3A4"/>
          </p15:clr>
        </p15:guide>
        <p15:guide id="3" orient="horz" pos="2341" userDrawn="1">
          <p15:clr>
            <a:srgbClr val="A4A3A4"/>
          </p15:clr>
        </p15:guide>
        <p15:guide id="4" orient="horz" pos="2704" userDrawn="1">
          <p15:clr>
            <a:srgbClr val="A4A3A4"/>
          </p15:clr>
        </p15:guide>
        <p15:guide id="5" orient="horz" pos="1344" userDrawn="1">
          <p15:clr>
            <a:srgbClr val="A4A3A4"/>
          </p15:clr>
        </p15:guide>
        <p15:guide id="6" orient="horz" pos="1865" userDrawn="1">
          <p15:clr>
            <a:srgbClr val="A4A3A4"/>
          </p15:clr>
        </p15:guide>
        <p15:guide id="7" orient="horz" pos="3770" userDrawn="1">
          <p15:clr>
            <a:srgbClr val="A4A3A4"/>
          </p15:clr>
        </p15:guide>
        <p15:guide id="9" pos="7378" userDrawn="1">
          <p15:clr>
            <a:srgbClr val="A4A3A4"/>
          </p15:clr>
        </p15:guide>
        <p15:guide id="10" pos="4021" userDrawn="1">
          <p15:clr>
            <a:srgbClr val="A4A3A4"/>
          </p15:clr>
        </p15:guide>
        <p15:guide id="11" pos="982" userDrawn="1">
          <p15:clr>
            <a:srgbClr val="A4A3A4"/>
          </p15:clr>
        </p15:guide>
        <p15:guide id="12" pos="21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Jessica Schmidt" initials="JS" lastIdx="6" clrIdx="6">
    <p:extLst>
      <p:ext uri="{19B8F6BF-5375-455C-9EA6-DF929625EA0E}">
        <p15:presenceInfo xmlns:p15="http://schemas.microsoft.com/office/powerpoint/2012/main" userId="S-1-5-21-2101819216-1804018624-262303683-56353" providerId="AD"/>
      </p:ext>
    </p:extLst>
  </p:cmAuthor>
  <p:cmAuthor id="1" name="Microsoft Office User" initials="Office" lastIdx="1" clrIdx="0"/>
  <p:cmAuthor id="8" name="Samantha Hegge" initials="SJH" lastIdx="2" clrIdx="7">
    <p:extLst>
      <p:ext uri="{19B8F6BF-5375-455C-9EA6-DF929625EA0E}">
        <p15:presenceInfo xmlns:p15="http://schemas.microsoft.com/office/powerpoint/2012/main" userId="Samantha Hegge" providerId="None"/>
      </p:ext>
    </p:extLst>
  </p:cmAuthor>
  <p:cmAuthor id="2" name="Andrew Bridger" initials="AB" lastIdx="1" clrIdx="1">
    <p:extLst>
      <p:ext uri="{19B8F6BF-5375-455C-9EA6-DF929625EA0E}">
        <p15:presenceInfo xmlns:p15="http://schemas.microsoft.com/office/powerpoint/2012/main" userId="S::Andrew_Bridger@gallup.com::b93732c1-9942-459f-b1c3-25cbde5c0e72" providerId="AD"/>
      </p:ext>
    </p:extLst>
  </p:cmAuthor>
  <p:cmAuthor id="3" name="Kristen Lipton" initials="KL" lastIdx="8" clrIdx="2">
    <p:extLst>
      <p:ext uri="{19B8F6BF-5375-455C-9EA6-DF929625EA0E}">
        <p15:presenceInfo xmlns:p15="http://schemas.microsoft.com/office/powerpoint/2012/main" userId="S::Kristen_Lipton@gallup.com::b0c1d126-226d-4197-8750-98371fc75f83" providerId="AD"/>
      </p:ext>
    </p:extLst>
  </p:cmAuthor>
  <p:cmAuthor id="4" name="Andrew Bridger" initials="AB [2]" lastIdx="11" clrIdx="3">
    <p:extLst>
      <p:ext uri="{19B8F6BF-5375-455C-9EA6-DF929625EA0E}">
        <p15:presenceInfo xmlns:p15="http://schemas.microsoft.com/office/powerpoint/2012/main" userId="S-1-5-21-2101819216-1804018624-262303683-35922" providerId="AD"/>
      </p:ext>
    </p:extLst>
  </p:cmAuthor>
  <p:cmAuthor id="5" name="Anne Schulte" initials="AS" lastIdx="20" clrIdx="4">
    <p:extLst>
      <p:ext uri="{19B8F6BF-5375-455C-9EA6-DF929625EA0E}">
        <p15:presenceInfo xmlns:p15="http://schemas.microsoft.com/office/powerpoint/2012/main" userId="S-1-5-21-2101819216-1804018624-262303683-75040" providerId="AD"/>
      </p:ext>
    </p:extLst>
  </p:cmAuthor>
  <p:cmAuthor id="6" name="Microsoft Office User" initials="MOU" lastIdx="8" clrIdx="5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520"/>
    <a:srgbClr val="C8D0D8"/>
    <a:srgbClr val="E8E4DC"/>
    <a:srgbClr val="56B4D3"/>
    <a:srgbClr val="88AABB"/>
    <a:srgbClr val="AAAAAA"/>
    <a:srgbClr val="BBBBBB"/>
    <a:srgbClr val="FFCCFF"/>
    <a:srgbClr val="1E4C74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78C0BA-AAEE-4180-AFCC-581C8124E075}" v="5" dt="2026-03-25T05:47:43.1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テーマ スタイル 2 - アクセント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B4B98B0-60AC-42C2-AFA5-B58CD77FA1E5}" styleName="淡色スタイル 1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929F9F4-4A8F-4326-A1B4-22849713DDAB}" styleName="濃色スタイル 1 - アクセント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C083E6E3-FA7D-4D7B-A595-EF9225AFEA82}" styleName="淡色スタイル 1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6242" autoAdjust="0"/>
  </p:normalViewPr>
  <p:slideViewPr>
    <p:cSldViewPr snapToGrid="0">
      <p:cViewPr varScale="1">
        <p:scale>
          <a:sx n="59" d="100"/>
          <a:sy n="59" d="100"/>
        </p:scale>
        <p:origin x="1020" y="268"/>
      </p:cViewPr>
      <p:guideLst>
        <p:guide orient="horz" pos="210"/>
        <p:guide orient="horz" pos="2341"/>
        <p:guide orient="horz" pos="2704"/>
        <p:guide orient="horz" pos="1344"/>
        <p:guide orient="horz" pos="1865"/>
        <p:guide orient="horz" pos="3770"/>
        <p:guide pos="7378"/>
        <p:guide pos="4021"/>
        <p:guide pos="982"/>
        <p:guide pos="21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834" y="108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66" Type="http://schemas.openxmlformats.org/officeDocument/2006/relationships/notesMaster" Target="notesMasters/notesMaster1.xml"/><Relationship Id="rId67" Type="http://schemas.openxmlformats.org/officeDocument/2006/relationships/handoutMaster" Target="handoutMasters/handoutMaster1.xml"/><Relationship Id="rId68" Type="http://schemas.openxmlformats.org/officeDocument/2006/relationships/commentAuthors" Target="commentAuthors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microsoft.com/office/2016/11/relationships/changesInfo" Target="changesInfos/changesInfo1.xml"/><Relationship Id="rId7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 t" userId="a60fa0385a795bf7" providerId="LiveId" clId="{DD6DE679-38D1-4327-A3B9-8BDA26DDAD42}"/>
    <pc:docChg chg="custSel modSld">
      <pc:chgData name="h t" userId="a60fa0385a795bf7" providerId="LiveId" clId="{DD6DE679-38D1-4327-A3B9-8BDA26DDAD42}" dt="2026-03-25T05:47:43.128" v="179" actId="572"/>
      <pc:docMkLst>
        <pc:docMk/>
      </pc:docMkLst>
      <pc:sldChg chg="addSp delSp modSp mod">
        <pc:chgData name="h t" userId="a60fa0385a795bf7" providerId="LiveId" clId="{DD6DE679-38D1-4327-A3B9-8BDA26DDAD42}" dt="2026-03-25T05:36:07.368" v="77" actId="20577"/>
        <pc:sldMkLst>
          <pc:docMk/>
          <pc:sldMk cId="2318723134" sldId="279"/>
        </pc:sldMkLst>
        <pc:spChg chg="add mod">
          <ac:chgData name="h t" userId="a60fa0385a795bf7" providerId="LiveId" clId="{DD6DE679-38D1-4327-A3B9-8BDA26DDAD42}" dt="2026-03-25T05:36:07.368" v="77" actId="20577"/>
          <ac:spMkLst>
            <pc:docMk/>
            <pc:sldMk cId="2318723134" sldId="279"/>
            <ac:spMk id="4" creationId="{606278BD-C402-99A1-6704-4C16FD37D119}"/>
          </ac:spMkLst>
        </pc:spChg>
        <pc:spChg chg="del">
          <ac:chgData name="h t" userId="a60fa0385a795bf7" providerId="LiveId" clId="{DD6DE679-38D1-4327-A3B9-8BDA26DDAD42}" dt="2026-03-25T05:32:12.516" v="0" actId="478"/>
          <ac:spMkLst>
            <pc:docMk/>
            <pc:sldMk cId="2318723134" sldId="279"/>
            <ac:spMk id="18" creationId="{C0943905-42C1-60D6-E1EF-EC13F07A3C5F}"/>
          </ac:spMkLst>
        </pc:spChg>
      </pc:sldChg>
      <pc:sldChg chg="addSp delSp modSp mod">
        <pc:chgData name="h t" userId="a60fa0385a795bf7" providerId="LiveId" clId="{DD6DE679-38D1-4327-A3B9-8BDA26DDAD42}" dt="2026-03-25T05:38:47.826" v="79" actId="931"/>
        <pc:sldMkLst>
          <pc:docMk/>
          <pc:sldMk cId="2461065599" sldId="280"/>
        </pc:sldMkLst>
        <pc:spChg chg="add del mod">
          <ac:chgData name="h t" userId="a60fa0385a795bf7" providerId="LiveId" clId="{DD6DE679-38D1-4327-A3B9-8BDA26DDAD42}" dt="2026-03-25T05:38:47.826" v="79" actId="931"/>
          <ac:spMkLst>
            <pc:docMk/>
            <pc:sldMk cId="2461065599" sldId="280"/>
            <ac:spMk id="4" creationId="{14046BC0-BE03-F9F4-5D91-5E75EB8CC3B3}"/>
          </ac:spMkLst>
        </pc:spChg>
        <pc:picChg chg="del">
          <ac:chgData name="h t" userId="a60fa0385a795bf7" providerId="LiveId" clId="{DD6DE679-38D1-4327-A3B9-8BDA26DDAD42}" dt="2026-03-25T05:38:24.105" v="78" actId="478"/>
          <ac:picMkLst>
            <pc:docMk/>
            <pc:sldMk cId="2461065599" sldId="280"/>
            <ac:picMk id="7" creationId="{24279175-EB1E-7273-F24E-4AFCFCA06B2F}"/>
          </ac:picMkLst>
        </pc:picChg>
        <pc:picChg chg="add mod ord">
          <ac:chgData name="h t" userId="a60fa0385a795bf7" providerId="LiveId" clId="{DD6DE679-38D1-4327-A3B9-8BDA26DDAD42}" dt="2026-03-25T05:38:47.826" v="79" actId="931"/>
          <ac:picMkLst>
            <pc:docMk/>
            <pc:sldMk cId="2461065599" sldId="280"/>
            <ac:picMk id="8" creationId="{BCE0F839-8671-6F6C-AEB6-E7256DB5EEB4}"/>
          </ac:picMkLst>
        </pc:picChg>
      </pc:sldChg>
      <pc:sldChg chg="addSp delSp modSp mod">
        <pc:chgData name="h t" userId="a60fa0385a795bf7" providerId="LiveId" clId="{DD6DE679-38D1-4327-A3B9-8BDA26DDAD42}" dt="2026-03-25T05:40:22.855" v="81" actId="931"/>
        <pc:sldMkLst>
          <pc:docMk/>
          <pc:sldMk cId="0" sldId="293"/>
        </pc:sldMkLst>
        <pc:spChg chg="add del mod">
          <ac:chgData name="h t" userId="a60fa0385a795bf7" providerId="LiveId" clId="{DD6DE679-38D1-4327-A3B9-8BDA26DDAD42}" dt="2026-03-25T05:40:22.855" v="81" actId="931"/>
          <ac:spMkLst>
            <pc:docMk/>
            <pc:sldMk cId="0" sldId="293"/>
            <ac:spMk id="4" creationId="{56677E88-3D46-C577-B87D-98226EDB41E0}"/>
          </ac:spMkLst>
        </pc:spChg>
        <pc:picChg chg="add mod ord">
          <ac:chgData name="h t" userId="a60fa0385a795bf7" providerId="LiveId" clId="{DD6DE679-38D1-4327-A3B9-8BDA26DDAD42}" dt="2026-03-25T05:40:22.855" v="81" actId="931"/>
          <ac:picMkLst>
            <pc:docMk/>
            <pc:sldMk cId="0" sldId="293"/>
            <ac:picMk id="8" creationId="{7BD81B58-CA4D-7F9E-2C8F-65E28E27F4E0}"/>
          </ac:picMkLst>
        </pc:picChg>
        <pc:picChg chg="del">
          <ac:chgData name="h t" userId="a60fa0385a795bf7" providerId="LiveId" clId="{DD6DE679-38D1-4327-A3B9-8BDA26DDAD42}" dt="2026-03-25T05:40:03.427" v="80" actId="478"/>
          <ac:picMkLst>
            <pc:docMk/>
            <pc:sldMk cId="0" sldId="293"/>
            <ac:picMk id="19" creationId="{9CA20819-1521-38C7-A639-39569DBD8EA3}"/>
          </ac:picMkLst>
        </pc:picChg>
      </pc:sldChg>
      <pc:sldChg chg="addSp delSp modSp mod">
        <pc:chgData name="h t" userId="a60fa0385a795bf7" providerId="LiveId" clId="{DD6DE679-38D1-4327-A3B9-8BDA26DDAD42}" dt="2026-03-25T05:47:43.128" v="179" actId="572"/>
        <pc:sldMkLst>
          <pc:docMk/>
          <pc:sldMk cId="0" sldId="294"/>
        </pc:sldMkLst>
        <pc:spChg chg="add del mod">
          <ac:chgData name="h t" userId="a60fa0385a795bf7" providerId="LiveId" clId="{DD6DE679-38D1-4327-A3B9-8BDA26DDAD42}" dt="2026-03-25T05:41:04.583" v="83"/>
          <ac:spMkLst>
            <pc:docMk/>
            <pc:sldMk cId="0" sldId="294"/>
            <ac:spMk id="6" creationId="{0EA0F71C-E36D-84B7-E35F-2CD7D5FF5988}"/>
          </ac:spMkLst>
        </pc:spChg>
        <pc:spChg chg="mod">
          <ac:chgData name="h t" userId="a60fa0385a795bf7" providerId="LiveId" clId="{DD6DE679-38D1-4327-A3B9-8BDA26DDAD42}" dt="2026-03-25T05:46:30.897" v="176" actId="404"/>
          <ac:spMkLst>
            <pc:docMk/>
            <pc:sldMk cId="0" sldId="294"/>
            <ac:spMk id="10" creationId="{229C3E39-B1AA-DDCA-5AA9-52F4E84756BA}"/>
          </ac:spMkLst>
        </pc:spChg>
        <pc:graphicFrameChg chg="add mod modGraphic">
          <ac:chgData name="h t" userId="a60fa0385a795bf7" providerId="LiveId" clId="{DD6DE679-38D1-4327-A3B9-8BDA26DDAD42}" dt="2026-03-25T05:47:43.128" v="179" actId="572"/>
          <ac:graphicFrameMkLst>
            <pc:docMk/>
            <pc:sldMk cId="0" sldId="294"/>
            <ac:graphicFrameMk id="8" creationId="{7772626A-0920-218E-F9B4-5C9215D18A5A}"/>
          </ac:graphicFrameMkLst>
        </pc:graphicFrameChg>
        <pc:picChg chg="del">
          <ac:chgData name="h t" userId="a60fa0385a795bf7" providerId="LiveId" clId="{DD6DE679-38D1-4327-A3B9-8BDA26DDAD42}" dt="2026-03-25T05:40:47.814" v="82" actId="478"/>
          <ac:picMkLst>
            <pc:docMk/>
            <pc:sldMk cId="0" sldId="294"/>
            <ac:picMk id="7" creationId="{AD359BF4-F0D6-54DA-8EBF-5CD551EF7DB2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20AE77-6706-49F8-8E11-B5B8FB42BA60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E70EC20C-FE65-474A-AF21-97B9298C924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76942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54000" y="228600"/>
            <a:ext cx="6502400" cy="36576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227076" y="4114800"/>
            <a:ext cx="6556248" cy="46177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324600" y="8957846"/>
            <a:ext cx="6858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77" tIns="91440" rIns="93177" bIns="91440" numCol="1" anchor="ctr" anchorCtr="0" compatLnSpc="1">
            <a:prstTxWarp prst="textNoShape">
              <a:avLst/>
            </a:prstTxWarp>
            <a:noAutofit/>
          </a:bodyPr>
          <a:lstStyle>
            <a:lvl1pPr algn="r">
              <a:defRPr sz="1000">
                <a:latin typeface="+mj-lt"/>
              </a:defRPr>
            </a:lvl1pPr>
          </a:lstStyle>
          <a:p>
            <a:pPr>
              <a:defRPr/>
            </a:pPr>
            <a:fld id="{26EBEF29-FB55-4911-BE7B-AB980B121A0D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895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1pPr>
    <a:lvl2pPr marL="231775" indent="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465138" indent="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682625" indent="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914400" indent="0" algn="l" rtl="0" eaLnBrk="0" fontAlgn="base" hangingPunct="0">
      <a:spcBef>
        <a:spcPts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2D0F4FB-6264-4292-8480-AA09AE50A6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820" y="177569"/>
            <a:ext cx="11520000" cy="65965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800" b="1" baseline="0">
                <a:solidFill>
                  <a:srgbClr val="E8E4DC"/>
                </a:solidFill>
              </a:defRPr>
            </a:lvl1pPr>
          </a:lstStyle>
          <a:p>
            <a:r>
              <a:rPr lang="en-US" dirty="0"/>
              <a:t>One-line Title 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CF0F576-1367-4E69-8A74-07F11D1A1AD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825500"/>
            <a:ext cx="11520000" cy="681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solidFill>
                  <a:srgbClr val="88AABB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Two-line Subtitle </a:t>
            </a:r>
          </a:p>
        </p:txBody>
      </p:sp>
    </p:spTree>
    <p:extLst>
      <p:ext uri="{BB962C8B-B14F-4D97-AF65-F5344CB8AC3E}">
        <p14:creationId xmlns:p14="http://schemas.microsoft.com/office/powerpoint/2010/main" val="1267297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 hasCustomPrompt="1"/>
          </p:nvPr>
        </p:nvSpPr>
        <p:spPr>
          <a:xfrm>
            <a:off x="695326" y="1737360"/>
            <a:ext cx="10801349" cy="4088448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CBD086-6A5C-6DFA-3A7F-04150F5F87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820" y="177569"/>
            <a:ext cx="11520000" cy="65965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800" b="1" baseline="0">
                <a:solidFill>
                  <a:srgbClr val="E8E4DC"/>
                </a:solidFill>
              </a:defRPr>
            </a:lvl1pPr>
          </a:lstStyle>
          <a:p>
            <a:r>
              <a:rPr lang="en-US" dirty="0"/>
              <a:t>One-line Title </a:t>
            </a: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A41CBEF5-7C4E-90AD-E4C9-842C14B53DF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825500"/>
            <a:ext cx="11520000" cy="681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solidFill>
                  <a:srgbClr val="88AABB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Two-line Subtitle 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695324" y="1012208"/>
            <a:ext cx="10801351" cy="4813600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A73FEA-4761-F6C4-504D-3A3F54860F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820" y="177569"/>
            <a:ext cx="11520000" cy="65965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800" b="1" baseline="0">
                <a:solidFill>
                  <a:srgbClr val="E8E4DC"/>
                </a:solidFill>
              </a:defRPr>
            </a:lvl1pPr>
          </a:lstStyle>
          <a:p>
            <a:r>
              <a:rPr lang="en-US" dirty="0"/>
              <a:t>One-line Title </a:t>
            </a:r>
          </a:p>
        </p:txBody>
      </p:sp>
    </p:spTree>
    <p:extLst>
      <p:ext uri="{BB962C8B-B14F-4D97-AF65-F5344CB8AC3E}">
        <p14:creationId xmlns:p14="http://schemas.microsoft.com/office/powerpoint/2010/main" val="721414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fld id="{59E3E2AC-ACB3-5544-BE29-32D30D23532C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 hasCustomPrompt="1"/>
          </p:nvPr>
        </p:nvSpPr>
        <p:spPr>
          <a:xfrm>
            <a:off x="695325" y="1012208"/>
            <a:ext cx="5383964" cy="4813600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F00B7003-C51D-432D-AC6A-697A0C27258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16349" y="1012208"/>
            <a:ext cx="5380326" cy="4813600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24EBD-0483-0527-7116-7A32522856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820" y="177569"/>
            <a:ext cx="11520000" cy="65965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800" b="1" baseline="0">
                <a:solidFill>
                  <a:srgbClr val="E8E4DC"/>
                </a:solidFill>
              </a:defRPr>
            </a:lvl1pPr>
          </a:lstStyle>
          <a:p>
            <a:r>
              <a:rPr lang="en-US" dirty="0"/>
              <a:t>One-line Title </a:t>
            </a: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8682C59-A011-4899-97A4-6E5AACF179C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95325" y="1816100"/>
            <a:ext cx="5383964" cy="4009708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14D9BDDC-312C-4D1A-BBB3-389511BF5589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0" y="1816100"/>
            <a:ext cx="5400675" cy="4009708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5AFC6-DED5-A8A9-C35E-9A2BE826F6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820" y="177569"/>
            <a:ext cx="11520000" cy="65965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800" b="1" baseline="0">
                <a:solidFill>
                  <a:srgbClr val="E8E4DC"/>
                </a:solidFill>
              </a:defRPr>
            </a:lvl1pPr>
          </a:lstStyle>
          <a:p>
            <a:r>
              <a:rPr lang="en-US" dirty="0"/>
              <a:t>One-line Title 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6C8EA826-0DC7-6F0E-3AD9-ABD027C17C9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825500"/>
            <a:ext cx="11520000" cy="681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solidFill>
                  <a:srgbClr val="88AABB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Two-line Subtitle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576E52B-ED1B-EAF1-BFF1-B8B8F4401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‹#›</a:t>
            </a:fld>
            <a:r>
              <a:rPr lang="en-US"/>
              <a:t> </a:t>
            </a:r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4C05273-2802-11E1-0AA8-F67E165381E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4640" y="1816100"/>
            <a:ext cx="5383964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28CE6EA-E826-359F-4287-9F68032E5CA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85650" y="1816100"/>
            <a:ext cx="5400675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A436AA2A-2BF1-CBC1-D5DE-8A5EC9F77C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4640" y="3908552"/>
            <a:ext cx="5383964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5E8DB8C-5AEC-BAAF-C1BB-F61E83615C9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185650" y="3908552"/>
            <a:ext cx="5400675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74C358-F45E-0EAE-EE13-D44CF28F6A3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820" y="177569"/>
            <a:ext cx="11520000" cy="65965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800" b="1" baseline="0">
                <a:solidFill>
                  <a:srgbClr val="E8E4DC"/>
                </a:solidFill>
              </a:defRPr>
            </a:lvl1pPr>
          </a:lstStyle>
          <a:p>
            <a:r>
              <a:rPr lang="en-US" dirty="0"/>
              <a:t>One-line Title 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DF48C17A-E1DF-E144-6212-B72C0538DC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825500"/>
            <a:ext cx="11520000" cy="681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solidFill>
                  <a:srgbClr val="88AABB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Two-line Subtitle </a:t>
            </a:r>
          </a:p>
        </p:txBody>
      </p:sp>
    </p:spTree>
    <p:extLst>
      <p:ext uri="{BB962C8B-B14F-4D97-AF65-F5344CB8AC3E}">
        <p14:creationId xmlns:p14="http://schemas.microsoft.com/office/powerpoint/2010/main" val="1183298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576E52B-ED1B-EAF1-BFF1-B8B8F4401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‹#›</a:t>
            </a:fld>
            <a:r>
              <a:rPr lang="en-US"/>
              <a:t> </a:t>
            </a:r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4C05273-2802-11E1-0AA8-F67E165381E7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1075" y="1781025"/>
            <a:ext cx="3506369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28CE6EA-E826-359F-4287-9F68032E5CA0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337375" y="1781025"/>
            <a:ext cx="3517252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A436AA2A-2BF1-CBC1-D5DE-8A5EC9F77C0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81075" y="3908552"/>
            <a:ext cx="3506369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5E8DB8C-5AEC-BAAF-C1BB-F61E83615C9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337375" y="3908552"/>
            <a:ext cx="3517252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493DDDEB-9AB3-992C-32CD-EC3D34014E7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8204558" y="1781025"/>
            <a:ext cx="3517252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5">
            <a:extLst>
              <a:ext uri="{FF2B5EF4-FFF2-40B4-BE49-F238E27FC236}">
                <a16:creationId xmlns:a16="http://schemas.microsoft.com/office/drawing/2014/main" id="{6E3185A0-FFE2-3C75-F5EC-315C09BF5CB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204558" y="3908552"/>
            <a:ext cx="3517252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rgbClr val="E8E4DC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rgbClr val="E8E4DC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423B6E9C-3A96-5911-852A-7FD3347794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820" y="177569"/>
            <a:ext cx="11520000" cy="65965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800" b="1" baseline="0">
                <a:solidFill>
                  <a:srgbClr val="E8E4DC"/>
                </a:solidFill>
              </a:defRPr>
            </a:lvl1pPr>
          </a:lstStyle>
          <a:p>
            <a:r>
              <a:rPr lang="en-US" dirty="0"/>
              <a:t>One-line Title 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5AB1733B-0C4C-CFB6-91CE-2E1FDF50743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825500"/>
            <a:ext cx="11520000" cy="681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solidFill>
                  <a:srgbClr val="88AABB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Two-line Subtitle </a:t>
            </a:r>
          </a:p>
        </p:txBody>
      </p:sp>
    </p:spTree>
    <p:extLst>
      <p:ext uri="{BB962C8B-B14F-4D97-AF65-F5344CB8AC3E}">
        <p14:creationId xmlns:p14="http://schemas.microsoft.com/office/powerpoint/2010/main" val="160390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tion 2: 1-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0"/>
            <a:ext cx="12192000" cy="6423378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4" y="978408"/>
            <a:ext cx="10801351" cy="4791456"/>
          </a:xfrm>
          <a:prstGeom prst="rect">
            <a:avLst/>
          </a:prstGeom>
        </p:spPr>
        <p:txBody>
          <a:bodyPr/>
          <a:lstStyle>
            <a:lvl1pPr>
              <a:buClrTx/>
              <a:defRPr sz="2000">
                <a:latin typeface="+mj-lt"/>
                <a:ea typeface="+mn-ea"/>
              </a:defRPr>
            </a:lvl1pPr>
            <a:lvl2pPr>
              <a:buClrTx/>
              <a:defRPr sz="1800">
                <a:latin typeface="+mj-lt"/>
                <a:ea typeface="+mn-ea"/>
              </a:defRPr>
            </a:lvl2pPr>
            <a:lvl3pPr>
              <a:buClrTx/>
              <a:defRPr sz="1600">
                <a:latin typeface="+mj-lt"/>
                <a:ea typeface="+mn-ea"/>
              </a:defRPr>
            </a:lvl3pPr>
            <a:lvl4pPr>
              <a:buClrTx/>
              <a:defRPr sz="1400">
                <a:latin typeface="+mj-lt"/>
                <a:ea typeface="+mn-ea"/>
              </a:defRPr>
            </a:lvl4pPr>
            <a:lvl5pPr>
              <a:buClrTx/>
              <a:defRPr sz="1200"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44424" y="228600"/>
            <a:ext cx="11512614" cy="52322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1" i="0" cap="none" baseline="0">
                <a:solidFill>
                  <a:schemeClr val="accent2"/>
                </a:solidFill>
                <a:latin typeface="+mj-lt"/>
                <a:ea typeface="+mn-ea"/>
              </a:defRPr>
            </a:lvl1pPr>
          </a:lstStyle>
          <a:p>
            <a:r>
              <a:rPr lang="en-US" dirty="0"/>
              <a:t>Click to Insert 1-Line Title</a:t>
            </a:r>
          </a:p>
        </p:txBody>
      </p:sp>
      <p:sp>
        <p:nvSpPr>
          <p:cNvPr id="9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344424" y="5861304"/>
            <a:ext cx="11512614" cy="329184"/>
          </a:xfrm>
          <a:prstGeom prst="rect">
            <a:avLst/>
          </a:prstGeom>
        </p:spPr>
        <p:txBody>
          <a:bodyPr vert="horz" lIns="91440" tIns="0" rIns="91440" bIns="0" rtlCol="0" anchor="b" anchorCtr="0"/>
          <a:lstStyle>
            <a:lvl1pPr algn="l">
              <a:lnSpc>
                <a:spcPct val="90000"/>
              </a:lnSpc>
              <a:defRPr sz="800">
                <a:solidFill>
                  <a:schemeClr val="tx1"/>
                </a:solidFill>
                <a:latin typeface="+mj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1">
            <a:extLst>
              <a:ext uri="{FF2B5EF4-FFF2-40B4-BE49-F238E27FC236}">
                <a16:creationId xmlns:a16="http://schemas.microsoft.com/office/drawing/2014/main" id="{9C97D172-3CA9-4CC0-BDCA-5A88F3C2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" y="6478361"/>
            <a:ext cx="404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9E3E2AC-ACB3-5544-BE29-32D30D23532C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19289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tion 3: 1-Title &amp; Content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 userDrawn="1"/>
        </p:nvSpPr>
        <p:spPr>
          <a:xfrm>
            <a:off x="0" y="1316736"/>
            <a:ext cx="12192000" cy="5125628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5324" y="1545336"/>
            <a:ext cx="10801351" cy="4224528"/>
          </a:xfrm>
          <a:prstGeom prst="rect">
            <a:avLst/>
          </a:prstGeom>
        </p:spPr>
        <p:txBody>
          <a:bodyPr/>
          <a:lstStyle>
            <a:lvl1pPr>
              <a:buClrTx/>
              <a:defRPr sz="2000">
                <a:solidFill>
                  <a:schemeClr val="tx1"/>
                </a:solidFill>
                <a:latin typeface="+mj-lt"/>
                <a:ea typeface="+mn-ea"/>
              </a:defRPr>
            </a:lvl1pPr>
            <a:lvl2pPr>
              <a:buClrTx/>
              <a:defRPr sz="1800">
                <a:solidFill>
                  <a:schemeClr val="tx1"/>
                </a:solidFill>
                <a:latin typeface="+mj-lt"/>
                <a:ea typeface="+mn-ea"/>
              </a:defRPr>
            </a:lvl2pPr>
            <a:lvl3pPr>
              <a:buClrTx/>
              <a:defRPr sz="1600">
                <a:solidFill>
                  <a:schemeClr val="tx1"/>
                </a:solidFill>
                <a:latin typeface="+mj-lt"/>
                <a:ea typeface="+mn-ea"/>
              </a:defRPr>
            </a:lvl3pPr>
            <a:lvl4pPr>
              <a:buClrTx/>
              <a:defRPr sz="1400">
                <a:solidFill>
                  <a:schemeClr val="tx1"/>
                </a:solidFill>
                <a:latin typeface="+mj-lt"/>
                <a:ea typeface="+mn-ea"/>
              </a:defRPr>
            </a:lvl4pPr>
            <a:lvl5pPr>
              <a:buClrTx/>
              <a:defRPr sz="1200">
                <a:solidFill>
                  <a:schemeClr val="tx1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44424" y="228600"/>
            <a:ext cx="11512614" cy="52322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1" i="0" cap="none" baseline="0">
                <a:solidFill>
                  <a:schemeClr val="accent2"/>
                </a:solidFill>
                <a:latin typeface="+mj-lt"/>
                <a:ea typeface="+mn-ea"/>
              </a:defRPr>
            </a:lvl1pPr>
          </a:lstStyle>
          <a:p>
            <a:r>
              <a:rPr lang="en-US" dirty="0"/>
              <a:t>Click to Insert 1-Line Title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344424" y="751820"/>
            <a:ext cx="11512614" cy="338554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  <a:ea typeface="+mn-ea"/>
              </a:defRPr>
            </a:lvl1pPr>
          </a:lstStyle>
          <a:p>
            <a:pPr lvl="0"/>
            <a:r>
              <a:rPr lang="en-US" dirty="0"/>
              <a:t>Click to insert 1-line callout/subtitle</a:t>
            </a:r>
          </a:p>
        </p:txBody>
      </p:sp>
      <p:sp>
        <p:nvSpPr>
          <p:cNvPr id="13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344424" y="5861304"/>
            <a:ext cx="11512614" cy="329184"/>
          </a:xfrm>
          <a:prstGeom prst="rect">
            <a:avLst/>
          </a:prstGeom>
        </p:spPr>
        <p:txBody>
          <a:bodyPr vert="horz" lIns="91440" tIns="0" rIns="91440" bIns="0" rtlCol="0" anchor="b" anchorCtr="0"/>
          <a:lstStyle>
            <a:lvl1pPr algn="l">
              <a:lnSpc>
                <a:spcPct val="90000"/>
              </a:lnSpc>
              <a:defRPr sz="800">
                <a:solidFill>
                  <a:schemeClr val="tx1"/>
                </a:solidFill>
                <a:latin typeface="+mj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79D8E02-0B24-4806-8EAF-74B0091B1E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200" y="6478361"/>
            <a:ext cx="404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fld id="{59E3E2AC-ACB3-5544-BE29-32D30D23532C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2594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tion 3: 1-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0" y="1008225"/>
            <a:ext cx="12192000" cy="5879592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 userDrawn="1">
            <p:ph idx="1"/>
          </p:nvPr>
        </p:nvSpPr>
        <p:spPr>
          <a:xfrm>
            <a:off x="695325" y="1211816"/>
            <a:ext cx="10797858" cy="4562856"/>
          </a:xfrm>
          <a:prstGeom prst="rect">
            <a:avLst/>
          </a:prstGeom>
        </p:spPr>
        <p:txBody>
          <a:bodyPr/>
          <a:lstStyle>
            <a:lvl1pPr>
              <a:buClrTx/>
              <a:defRPr sz="2000">
                <a:solidFill>
                  <a:schemeClr val="tx1"/>
                </a:solidFill>
                <a:latin typeface="+mj-lt"/>
                <a:ea typeface="+mn-ea"/>
              </a:defRPr>
            </a:lvl1pPr>
            <a:lvl2pPr>
              <a:buClrTx/>
              <a:defRPr sz="1800">
                <a:solidFill>
                  <a:schemeClr val="tx1"/>
                </a:solidFill>
                <a:latin typeface="+mj-lt"/>
                <a:ea typeface="+mn-ea"/>
              </a:defRPr>
            </a:lvl2pPr>
            <a:lvl3pPr>
              <a:buClrTx/>
              <a:defRPr sz="1600">
                <a:solidFill>
                  <a:schemeClr val="tx1"/>
                </a:solidFill>
                <a:latin typeface="+mj-lt"/>
                <a:ea typeface="+mn-ea"/>
              </a:defRPr>
            </a:lvl3pPr>
            <a:lvl4pPr>
              <a:buClrTx/>
              <a:defRPr sz="1400">
                <a:solidFill>
                  <a:schemeClr val="tx1"/>
                </a:solidFill>
                <a:latin typeface="+mj-lt"/>
                <a:ea typeface="+mn-ea"/>
              </a:defRPr>
            </a:lvl4pPr>
            <a:lvl5pPr>
              <a:buClrTx/>
              <a:defRPr sz="1200">
                <a:solidFill>
                  <a:schemeClr val="tx1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44424" y="228600"/>
            <a:ext cx="11512614" cy="523220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b="1" i="0" cap="none" baseline="0">
                <a:solidFill>
                  <a:schemeClr val="accent2"/>
                </a:solidFill>
                <a:latin typeface="+mj-lt"/>
                <a:ea typeface="+mn-ea"/>
              </a:defRPr>
            </a:lvl1pPr>
          </a:lstStyle>
          <a:p>
            <a:r>
              <a:rPr lang="en-US" dirty="0"/>
              <a:t>Click to Insert 1-Line Title</a:t>
            </a:r>
          </a:p>
        </p:txBody>
      </p:sp>
      <p:sp>
        <p:nvSpPr>
          <p:cNvPr id="12" name="Footer Placeholder 9"/>
          <p:cNvSpPr>
            <a:spLocks noGrp="1"/>
          </p:cNvSpPr>
          <p:nvPr userDrawn="1">
            <p:ph type="ftr" sz="quarter" idx="3"/>
          </p:nvPr>
        </p:nvSpPr>
        <p:spPr>
          <a:xfrm>
            <a:off x="344424" y="5861304"/>
            <a:ext cx="11512614" cy="329184"/>
          </a:xfrm>
          <a:prstGeom prst="rect">
            <a:avLst/>
          </a:prstGeom>
        </p:spPr>
        <p:txBody>
          <a:bodyPr vert="horz" lIns="91440" tIns="0" rIns="91440" bIns="0" rtlCol="0" anchor="b" anchorCtr="0"/>
          <a:lstStyle>
            <a:lvl1pPr algn="l">
              <a:lnSpc>
                <a:spcPct val="90000"/>
              </a:lnSpc>
              <a:defRPr sz="800">
                <a:solidFill>
                  <a:schemeClr val="tx1"/>
                </a:solidFill>
                <a:latin typeface="+mj-lt"/>
                <a:ea typeface="+mn-ea"/>
              </a:defRPr>
            </a:lvl1pPr>
          </a:lstStyle>
          <a:p>
            <a:endParaRPr lang="en-US" dirty="0"/>
          </a:p>
        </p:txBody>
      </p:sp>
      <p:pic>
        <p:nvPicPr>
          <p:cNvPr id="8" name="図 7" descr="ロゴ が含まれている画像  自動的に生成された説明">
            <a:extLst>
              <a:ext uri="{FF2B5EF4-FFF2-40B4-BE49-F238E27FC236}">
                <a16:creationId xmlns:a16="http://schemas.microsoft.com/office/drawing/2014/main" id="{3C29FD8F-1D58-4948-8741-15C1310085A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8000" y="6519600"/>
            <a:ext cx="990367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436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ption 3: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 userDrawn="1"/>
        </p:nvSpPr>
        <p:spPr>
          <a:xfrm>
            <a:off x="-544855" y="-286603"/>
            <a:ext cx="13281710" cy="7470962"/>
          </a:xfrm>
          <a:prstGeom prst="rect">
            <a:avLst/>
          </a:prstGeom>
          <a:solidFill>
            <a:schemeClr val="bg2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8" name="Rectangle 8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230124" y="2660905"/>
            <a:ext cx="11731752" cy="830539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800" b="1" cap="none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Click to Insert Title</a:t>
            </a:r>
          </a:p>
        </p:txBody>
      </p:sp>
      <p:sp>
        <p:nvSpPr>
          <p:cNvPr id="17" name="Rectangle 9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30124" y="3701530"/>
            <a:ext cx="11731752" cy="584775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600" b="1" cap="none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dirty="0"/>
              <a:t>Click to Insert Subtitle</a:t>
            </a:r>
          </a:p>
        </p:txBody>
      </p:sp>
    </p:spTree>
    <p:extLst>
      <p:ext uri="{BB962C8B-B14F-4D97-AF65-F5344CB8AC3E}">
        <p14:creationId xmlns:p14="http://schemas.microsoft.com/office/powerpoint/2010/main" val="24177312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黒い背景に白い文字がある  低い精度で自動的に生成された説明">
            <a:extLst>
              <a:ext uri="{FF2B5EF4-FFF2-40B4-BE49-F238E27FC236}">
                <a16:creationId xmlns:a16="http://schemas.microsoft.com/office/drawing/2014/main" id="{5E688BEF-66ED-4896-9600-EAFE4E34F5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93403" y="2966337"/>
            <a:ext cx="320992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54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695326" y="1737360"/>
            <a:ext cx="10801349" cy="4088448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chemeClr val="tx2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43511D6-CCCF-4FC9-88C1-A4ABC276C9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820" y="177569"/>
            <a:ext cx="11520000" cy="65965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800" b="1" baseline="0">
                <a:solidFill>
                  <a:schemeClr val="tx2"/>
                </a:solidFill>
                <a:latin typeface="+mj-lt"/>
                <a:ea typeface="+mn-ea"/>
              </a:defRPr>
            </a:lvl1pPr>
          </a:lstStyle>
          <a:p>
            <a:r>
              <a:rPr lang="en-US" dirty="0"/>
              <a:t>One-line Title 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86BE309-938D-4B67-8053-260F1E3DB0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825500"/>
            <a:ext cx="11520000" cy="681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solidFill>
                  <a:schemeClr val="tx2"/>
                </a:solidFill>
                <a:latin typeface="+mj-lt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Two-line Subtitle </a:t>
            </a:r>
          </a:p>
        </p:txBody>
      </p:sp>
    </p:spTree>
    <p:extLst>
      <p:ext uri="{BB962C8B-B14F-4D97-AF65-F5344CB8AC3E}">
        <p14:creationId xmlns:p14="http://schemas.microsoft.com/office/powerpoint/2010/main" val="2530722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37820" y="6001004"/>
            <a:ext cx="11520000" cy="27279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A3DE9B3-5651-484C-8992-8C982885CE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820" y="177569"/>
            <a:ext cx="11520000" cy="65965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800" b="1" baseline="0">
                <a:solidFill>
                  <a:schemeClr val="tx2"/>
                </a:solidFill>
                <a:latin typeface="+mj-lt"/>
                <a:ea typeface="+mn-ea"/>
              </a:defRPr>
            </a:lvl1pPr>
          </a:lstStyle>
          <a:p>
            <a:r>
              <a:rPr lang="en-US" dirty="0"/>
              <a:t>One-line Title 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68C9E03-72C2-47C6-BB19-D78B19AC9A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825500"/>
            <a:ext cx="11520000" cy="681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solidFill>
                  <a:schemeClr val="tx2"/>
                </a:solidFill>
                <a:latin typeface="+mj-lt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Two-line Subtitle 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8682C59-A011-4899-97A4-6E5AACF179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5325" y="1816100"/>
            <a:ext cx="5383964" cy="4009708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chemeClr val="tx2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14D9BDDC-312C-4D1A-BBB3-389511BF5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16100"/>
            <a:ext cx="5400675" cy="4009708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chemeClr val="tx2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12603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Option 1: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8"/>
          <p:cNvSpPr>
            <a:spLocks noGrp="1" noChangeArrowheads="1"/>
          </p:cNvSpPr>
          <p:nvPr userDrawn="1">
            <p:ph type="ctrTitle" hasCustomPrompt="1"/>
          </p:nvPr>
        </p:nvSpPr>
        <p:spPr>
          <a:xfrm>
            <a:off x="230124" y="2386584"/>
            <a:ext cx="11731752" cy="1077218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 b="1" cap="none" baseline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dirty="0"/>
              <a:t>Click to Insert Title</a:t>
            </a:r>
          </a:p>
        </p:txBody>
      </p:sp>
      <p:sp>
        <p:nvSpPr>
          <p:cNvPr id="3081" name="Rectangle 9"/>
          <p:cNvSpPr>
            <a:spLocks noGrp="1" noChangeArrowheads="1"/>
          </p:cNvSpPr>
          <p:nvPr userDrawn="1">
            <p:ph type="subTitle" idx="1" hasCustomPrompt="1"/>
          </p:nvPr>
        </p:nvSpPr>
        <p:spPr>
          <a:xfrm>
            <a:off x="230124" y="3466018"/>
            <a:ext cx="11731752" cy="584775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600" cap="none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dirty="0"/>
              <a:t>Click to Insert Subtitle</a:t>
            </a:r>
          </a:p>
        </p:txBody>
      </p:sp>
      <p:pic>
        <p:nvPicPr>
          <p:cNvPr id="5" name="図 4" descr="ロゴ が含まれている画像  自動的に生成された説明">
            <a:extLst>
              <a:ext uri="{FF2B5EF4-FFF2-40B4-BE49-F238E27FC236}">
                <a16:creationId xmlns:a16="http://schemas.microsoft.com/office/drawing/2014/main" id="{A56B3D88-EA58-464C-A6B5-6589F710FF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8000" y="6519600"/>
            <a:ext cx="990367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3436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576E52B-ED1B-EAF1-BFF1-B8B8F4401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‹#›</a:t>
            </a:fld>
            <a:r>
              <a:rPr lang="en-US"/>
              <a:t> </a:t>
            </a:r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D50FF4-6162-0C57-6982-6883C8576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820" y="6001004"/>
            <a:ext cx="11520000" cy="27279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6372A3-2C0B-1A3E-D642-46D02B4A95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820" y="177569"/>
            <a:ext cx="11520000" cy="65965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800" b="1" baseline="0">
                <a:solidFill>
                  <a:schemeClr val="tx2"/>
                </a:solidFill>
                <a:latin typeface="+mj-lt"/>
                <a:ea typeface="+mn-ea"/>
              </a:defRPr>
            </a:lvl1pPr>
          </a:lstStyle>
          <a:p>
            <a:r>
              <a:rPr lang="en-US" dirty="0"/>
              <a:t>One-line Title 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C71E9DD-BB64-A020-B7A9-6BB41D4444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825500"/>
            <a:ext cx="11520000" cy="681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solidFill>
                  <a:schemeClr val="tx2"/>
                </a:solidFill>
                <a:latin typeface="+mj-lt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Two-line Subtitle 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4C05273-2802-11E1-0AA8-F67E165381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640" y="1816100"/>
            <a:ext cx="5383964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chemeClr val="tx2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28CE6EA-E826-359F-4287-9F68032E5C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5650" y="1816100"/>
            <a:ext cx="5400675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chemeClr val="tx2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A436AA2A-2BF1-CBC1-D5DE-8A5EC9F77C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4640" y="3908552"/>
            <a:ext cx="5383964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chemeClr val="tx2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5E8DB8C-5AEC-BAAF-C1BB-F61E83615C9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85650" y="3908552"/>
            <a:ext cx="5400675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chemeClr val="tx2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83507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Option 2: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8"/>
          <p:cNvSpPr>
            <a:spLocks noGrp="1" noChangeArrowheads="1"/>
          </p:cNvSpPr>
          <p:nvPr userDrawn="1">
            <p:ph type="ctrTitle" hasCustomPrompt="1"/>
          </p:nvPr>
        </p:nvSpPr>
        <p:spPr>
          <a:xfrm>
            <a:off x="629389" y="1148316"/>
            <a:ext cx="10941150" cy="2251691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 b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Main Title Slide</a:t>
            </a:r>
          </a:p>
        </p:txBody>
      </p:sp>
      <p:sp>
        <p:nvSpPr>
          <p:cNvPr id="3081" name="Rectangle 9"/>
          <p:cNvSpPr>
            <a:spLocks noGrp="1" noChangeArrowheads="1"/>
          </p:cNvSpPr>
          <p:nvPr userDrawn="1">
            <p:ph type="subTitle" idx="1" hasCustomPrompt="1"/>
          </p:nvPr>
        </p:nvSpPr>
        <p:spPr>
          <a:xfrm>
            <a:off x="629389" y="3572344"/>
            <a:ext cx="10941150" cy="829535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600" cap="none" spc="100" baseline="0">
                <a:solidFill>
                  <a:schemeClr val="tx2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dirty="0"/>
              <a:t>SUBTITLE </a:t>
            </a:r>
            <a:r>
              <a:rPr lang="mr-IN" dirty="0"/>
              <a:t>–</a:t>
            </a:r>
            <a:r>
              <a:rPr lang="en-US" dirty="0"/>
              <a:t> ALL CAPS, 1PT TRACKING</a:t>
            </a:r>
          </a:p>
        </p:txBody>
      </p:sp>
      <p:pic>
        <p:nvPicPr>
          <p:cNvPr id="5" name="図 4" descr="ロゴ が含まれている画像  自動的に生成された説明">
            <a:extLst>
              <a:ext uri="{FF2B5EF4-FFF2-40B4-BE49-F238E27FC236}">
                <a16:creationId xmlns:a16="http://schemas.microsoft.com/office/drawing/2014/main" id="{40DF44F2-FB80-4462-9B18-C62CBDAD38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07279" y="6519600"/>
            <a:ext cx="990367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5350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08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Open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 descr="黒い背景に白い文字がある  低い精度で自動的に生成された説明">
            <a:extLst>
              <a:ext uri="{FF2B5EF4-FFF2-40B4-BE49-F238E27FC236}">
                <a16:creationId xmlns:a16="http://schemas.microsoft.com/office/drawing/2014/main" id="{5E688BEF-66ED-4896-9600-EAFE4E34F5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93403" y="2966337"/>
            <a:ext cx="3209925" cy="93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65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695326" y="1737360"/>
            <a:ext cx="10801349" cy="4088448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chemeClr val="tx2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43511D6-CCCF-4FC9-88C1-A4ABC276C9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820" y="177569"/>
            <a:ext cx="11520000" cy="65965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800" b="1" baseline="0">
                <a:solidFill>
                  <a:schemeClr val="tx2"/>
                </a:solidFill>
                <a:latin typeface="+mj-lt"/>
                <a:ea typeface="+mn-ea"/>
              </a:defRPr>
            </a:lvl1pPr>
          </a:lstStyle>
          <a:p>
            <a:r>
              <a:rPr lang="en-US" dirty="0"/>
              <a:t>One-line Title 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86BE309-938D-4B67-8053-260F1E3DB07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825500"/>
            <a:ext cx="11520000" cy="681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solidFill>
                  <a:schemeClr val="tx2"/>
                </a:solidFill>
                <a:latin typeface="+mj-lt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Two-line Subtitle </a:t>
            </a:r>
          </a:p>
        </p:txBody>
      </p:sp>
    </p:spTree>
    <p:extLst>
      <p:ext uri="{BB962C8B-B14F-4D97-AF65-F5344CB8AC3E}">
        <p14:creationId xmlns:p14="http://schemas.microsoft.com/office/powerpoint/2010/main" val="2265613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37820" y="6001004"/>
            <a:ext cx="11520000" cy="27279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‹#›</a:t>
            </a:fld>
            <a:r>
              <a:rPr lang="en-US" dirty="0"/>
              <a:t> 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A3DE9B3-5651-484C-8992-8C982885CE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820" y="177569"/>
            <a:ext cx="11520000" cy="65965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800" b="1" baseline="0">
                <a:solidFill>
                  <a:schemeClr val="tx2"/>
                </a:solidFill>
                <a:latin typeface="+mj-lt"/>
                <a:ea typeface="+mn-ea"/>
              </a:defRPr>
            </a:lvl1pPr>
          </a:lstStyle>
          <a:p>
            <a:r>
              <a:rPr lang="en-US" dirty="0"/>
              <a:t>One-line Title 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68C9E03-72C2-47C6-BB19-D78B19AC9A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825500"/>
            <a:ext cx="11520000" cy="681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solidFill>
                  <a:schemeClr val="tx2"/>
                </a:solidFill>
                <a:latin typeface="+mj-lt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Two-line Subtitle 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68682C59-A011-4899-97A4-6E5AACF179C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95325" y="1816100"/>
            <a:ext cx="5383964" cy="4009708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chemeClr val="tx2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14D9BDDC-312C-4D1A-BBB3-389511BF558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1816100"/>
            <a:ext cx="5400675" cy="4009708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chemeClr val="tx2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26830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Option 1: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8"/>
          <p:cNvSpPr>
            <a:spLocks noGrp="1" noChangeArrowheads="1"/>
          </p:cNvSpPr>
          <p:nvPr userDrawn="1">
            <p:ph type="ctrTitle" hasCustomPrompt="1"/>
          </p:nvPr>
        </p:nvSpPr>
        <p:spPr>
          <a:xfrm>
            <a:off x="230124" y="2386584"/>
            <a:ext cx="11731752" cy="1077218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3200" b="1" cap="none" baseline="0">
                <a:solidFill>
                  <a:schemeClr val="accent2"/>
                </a:solidFill>
                <a:latin typeface="+mj-lt"/>
              </a:defRPr>
            </a:lvl1pPr>
          </a:lstStyle>
          <a:p>
            <a:r>
              <a:rPr lang="en-US" dirty="0"/>
              <a:t>Click to Insert Title</a:t>
            </a:r>
          </a:p>
        </p:txBody>
      </p:sp>
      <p:sp>
        <p:nvSpPr>
          <p:cNvPr id="3081" name="Rectangle 9"/>
          <p:cNvSpPr>
            <a:spLocks noGrp="1" noChangeArrowheads="1"/>
          </p:cNvSpPr>
          <p:nvPr userDrawn="1">
            <p:ph type="subTitle" idx="1" hasCustomPrompt="1"/>
          </p:nvPr>
        </p:nvSpPr>
        <p:spPr>
          <a:xfrm>
            <a:off x="230124" y="3466018"/>
            <a:ext cx="11731752" cy="584775"/>
          </a:xfrm>
          <a:prstGeom prst="rect">
            <a:avLst/>
          </a:prstGeom>
        </p:spPr>
        <p:txBody>
          <a:bodyPr vert="horz" wrap="square" lIns="91440" tIns="45720" rIns="91440" bIns="4572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600" cap="none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dirty="0"/>
              <a:t>Click to Insert Subtitle</a:t>
            </a:r>
          </a:p>
        </p:txBody>
      </p:sp>
      <p:pic>
        <p:nvPicPr>
          <p:cNvPr id="5" name="図 4" descr="ロゴ が含まれている画像  自動的に生成された説明">
            <a:extLst>
              <a:ext uri="{FF2B5EF4-FFF2-40B4-BE49-F238E27FC236}">
                <a16:creationId xmlns:a16="http://schemas.microsoft.com/office/drawing/2014/main" id="{A56B3D88-EA58-464C-A6B5-6589F710FFA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998000" y="6519600"/>
            <a:ext cx="990367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0411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576E52B-ED1B-EAF1-BFF1-B8B8F4401B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‹#›</a:t>
            </a:fld>
            <a:r>
              <a:rPr lang="en-US"/>
              <a:t> </a:t>
            </a:r>
            <a:endParaRPr lang="en-US" dirty="0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D50FF4-6162-0C57-6982-6883C8576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7820" y="6001004"/>
            <a:ext cx="11520000" cy="27279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226372A3-2C0B-1A3E-D642-46D02B4A95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7820" y="177569"/>
            <a:ext cx="11520000" cy="659654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defRPr sz="2800" b="1" baseline="0">
                <a:solidFill>
                  <a:schemeClr val="tx2"/>
                </a:solidFill>
                <a:latin typeface="+mj-lt"/>
                <a:ea typeface="+mn-ea"/>
              </a:defRPr>
            </a:lvl1pPr>
          </a:lstStyle>
          <a:p>
            <a:r>
              <a:rPr lang="en-US" dirty="0"/>
              <a:t>One-line Title 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9C71E9DD-BB64-A020-B7A9-6BB41D44449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138" y="825500"/>
            <a:ext cx="11520000" cy="681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aseline="0">
                <a:solidFill>
                  <a:schemeClr val="tx2"/>
                </a:solidFill>
                <a:latin typeface="+mj-lt"/>
                <a:ea typeface="+mn-ea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Two-line Subtitle 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34C05273-2802-11E1-0AA8-F67E165381E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4640" y="1816100"/>
            <a:ext cx="5383964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chemeClr val="tx2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428CE6EA-E826-359F-4287-9F68032E5CA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85650" y="1816100"/>
            <a:ext cx="5400675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chemeClr val="tx2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A436AA2A-2BF1-CBC1-D5DE-8A5EC9F77C0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14640" y="3908552"/>
            <a:ext cx="5383964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chemeClr val="tx2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55E8DB8C-5AEC-BAAF-C1BB-F61E83615C9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185650" y="3908552"/>
            <a:ext cx="5400675" cy="1958041"/>
          </a:xfrm>
          <a:prstGeom prst="rect">
            <a:avLst/>
          </a:prstGeom>
        </p:spPr>
        <p:txBody>
          <a:bodyPr/>
          <a:lstStyle>
            <a:lvl1pPr>
              <a:spcBef>
                <a:spcPts val="800"/>
              </a:spcBef>
              <a:buClr>
                <a:schemeClr val="accent2"/>
              </a:buClr>
              <a:defRPr>
                <a:solidFill>
                  <a:schemeClr val="tx2"/>
                </a:solidFill>
                <a:latin typeface="+mj-lt"/>
                <a:ea typeface="+mn-ea"/>
              </a:defRPr>
            </a:lvl1pPr>
            <a:lvl2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2pPr>
            <a:lvl3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3pPr>
            <a:lvl4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4pPr>
            <a:lvl5pPr>
              <a:spcBef>
                <a:spcPts val="800"/>
              </a:spcBef>
              <a:defRPr>
                <a:solidFill>
                  <a:schemeClr val="tx2"/>
                </a:solidFill>
                <a:latin typeface="+mj-lt"/>
                <a:ea typeface="+mn-ea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930308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3_Option 2: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Rectangle 8"/>
          <p:cNvSpPr>
            <a:spLocks noGrp="1" noChangeArrowheads="1"/>
          </p:cNvSpPr>
          <p:nvPr userDrawn="1">
            <p:ph type="ctrTitle" hasCustomPrompt="1"/>
          </p:nvPr>
        </p:nvSpPr>
        <p:spPr>
          <a:xfrm>
            <a:off x="629389" y="1148316"/>
            <a:ext cx="10941150" cy="2251691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4400" b="0" cap="none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Main Title Slide</a:t>
            </a:r>
          </a:p>
        </p:txBody>
      </p:sp>
      <p:sp>
        <p:nvSpPr>
          <p:cNvPr id="3081" name="Rectangle 9"/>
          <p:cNvSpPr>
            <a:spLocks noGrp="1" noChangeArrowheads="1"/>
          </p:cNvSpPr>
          <p:nvPr userDrawn="1">
            <p:ph type="subTitle" idx="1" hasCustomPrompt="1"/>
          </p:nvPr>
        </p:nvSpPr>
        <p:spPr>
          <a:xfrm>
            <a:off x="629389" y="3572344"/>
            <a:ext cx="10941150" cy="829535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1600" cap="none" spc="100" baseline="0">
                <a:solidFill>
                  <a:schemeClr val="tx2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dirty="0"/>
              <a:t>SUBTITLE </a:t>
            </a:r>
            <a:r>
              <a:rPr lang="mr-IN" dirty="0"/>
              <a:t>–</a:t>
            </a:r>
            <a:r>
              <a:rPr lang="en-US" dirty="0"/>
              <a:t> ALL CAPS, 1PT TRACKING</a:t>
            </a:r>
          </a:p>
        </p:txBody>
      </p:sp>
      <p:pic>
        <p:nvPicPr>
          <p:cNvPr id="5" name="図 4" descr="ロゴ が含まれている画像  自動的に生成された説明">
            <a:extLst>
              <a:ext uri="{FF2B5EF4-FFF2-40B4-BE49-F238E27FC236}">
                <a16:creationId xmlns:a16="http://schemas.microsoft.com/office/drawing/2014/main" id="{40DF44F2-FB80-4462-9B18-C62CBDAD38E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607279" y="6519600"/>
            <a:ext cx="990367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894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orient="horz" pos="4088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7820" y="6001004"/>
            <a:ext cx="11520000" cy="27279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02402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6200" y="6495475"/>
            <a:ext cx="4048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00">
                <a:solidFill>
                  <a:srgbClr val="E8E4DC"/>
                </a:solidFill>
              </a:defRPr>
            </a:lvl1pPr>
          </a:lstStyle>
          <a:p>
            <a:fld id="{59E3E2AC-ACB3-5544-BE29-32D30D23532C}" type="slidenum">
              <a:rPr lang="en-US" smtClean="0"/>
              <a:pPr/>
              <a:t>‹#›</a:t>
            </a:fld>
            <a:r>
              <a:rPr lang="en-US"/>
              <a:t> </a:t>
            </a:r>
            <a:endParaRPr lang="en-US" sz="700" dirty="0"/>
          </a:p>
        </p:txBody>
      </p:sp>
      <p:cxnSp>
        <p:nvCxnSpPr>
          <p:cNvPr id="7" name="Straight Connector 6"/>
          <p:cNvCxnSpPr>
            <a:cxnSpLocks/>
          </p:cNvCxnSpPr>
          <p:nvPr userDrawn="1"/>
        </p:nvCxnSpPr>
        <p:spPr>
          <a:xfrm flipV="1">
            <a:off x="482591" y="6511513"/>
            <a:ext cx="0" cy="333049"/>
          </a:xfrm>
          <a:prstGeom prst="line">
            <a:avLst/>
          </a:prstGeom>
          <a:ln>
            <a:solidFill>
              <a:srgbClr val="56B4D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3">
            <a:extLst>
              <a:ext uri="{FF2B5EF4-FFF2-40B4-BE49-F238E27FC236}">
                <a16:creationId xmlns:a16="http://schemas.microsoft.com/office/drawing/2014/main" id="{8D157043-4C74-4013-88A5-49A711679610}"/>
              </a:ext>
            </a:extLst>
          </p:cNvPr>
          <p:cNvSpPr/>
          <p:nvPr userDrawn="1"/>
        </p:nvSpPr>
        <p:spPr>
          <a:xfrm>
            <a:off x="685800" y="6578010"/>
            <a:ext cx="3429000" cy="200055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eaLnBrk="0" hangingPunct="0"/>
            <a:r>
              <a:rPr lang="en-US" sz="700" dirty="0">
                <a:solidFill>
                  <a:srgbClr val="E8E4DC"/>
                </a:solidFill>
                <a:latin typeface="+mn-lt"/>
              </a:rPr>
              <a:t>© 2026 Gambit, Inc. All rights reserved.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010" r:id="rId1"/>
    <p:sldLayoutId id="2147484013" r:id="rId2"/>
    <p:sldLayoutId id="2147484011" r:id="rId3"/>
    <p:sldLayoutId id="2147484042" r:id="rId4"/>
    <p:sldLayoutId id="2147484043" r:id="rId5"/>
    <p:sldLayoutId id="2147484090" r:id="rId6"/>
    <p:sldLayoutId id="2147484127" r:id="rId7"/>
    <p:sldLayoutId id="2147484077" r:id="rId8"/>
    <p:sldLayoutId id="2147484080" r:id="rId9"/>
    <p:sldLayoutId id="2147484083" r:id="rId10"/>
    <p:sldLayoutId id="2147484085" r:id="rId11"/>
    <p:sldLayoutId id="2147484089" r:id="rId12"/>
    <p:sldLayoutId id="2147484103" r:id="rId13"/>
    <p:sldLayoutId id="2147484104" r:id="rId14"/>
    <p:sldLayoutId id="2147484105" r:id="rId15"/>
    <p:sldLayoutId id="2147484106" r:id="rId16"/>
    <p:sldLayoutId id="2147484107" r:id="rId17"/>
    <p:sldLayoutId id="2147484108" r:id="rId18"/>
    <p:sldLayoutId id="2147484121" r:id="rId19"/>
    <p:sldLayoutId id="2147484122" r:id="rId20"/>
    <p:sldLayoutId id="2147484123" r:id="rId21"/>
    <p:sldLayoutId id="2147484124" r:id="rId22"/>
    <p:sldLayoutId id="2147484125" r:id="rId23"/>
    <p:sldLayoutId id="2147484126" r:id="rId24"/>
    <p:sldLayoutId id="2147484129" r:id="rId25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61C250"/>
          </a:solidFill>
          <a:latin typeface="Georgia" pitchFamily="18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61C250"/>
          </a:solidFill>
          <a:latin typeface="Georgia" pitchFamily="18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61C250"/>
          </a:solidFill>
          <a:latin typeface="Georgia" pitchFamily="18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61C250"/>
          </a:solidFill>
          <a:latin typeface="Georgia" pitchFamily="18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rgbClr val="61C250"/>
          </a:solidFill>
          <a:latin typeface="Georgia" pitchFamily="18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rgbClr val="61C250"/>
          </a:solidFill>
          <a:latin typeface="Georgia" pitchFamily="18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rgbClr val="61C250"/>
          </a:solidFill>
          <a:latin typeface="Georgia" pitchFamily="18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rgbClr val="61C250"/>
          </a:solidFill>
          <a:latin typeface="Georgia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ts val="600"/>
        </a:spcBef>
        <a:spcAft>
          <a:spcPct val="0"/>
        </a:spcAft>
        <a:buClrTx/>
        <a:buSzPct val="80000"/>
        <a:buFont typeface="Arial" panose="020B0604020202020204" pitchFamily="34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ts val="600"/>
        </a:spcBef>
        <a:spcAft>
          <a:spcPct val="0"/>
        </a:spcAft>
        <a:buClrTx/>
        <a:buFont typeface="Arial" charset="0"/>
        <a:buChar char="–"/>
        <a:defRPr sz="1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ClrTx/>
        <a:buSzPct val="80000"/>
        <a:buFont typeface="Arial" panose="020B0604020202020204" pitchFamily="34" charset="0"/>
        <a:buChar char="•"/>
        <a:defRPr sz="16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ts val="600"/>
        </a:spcBef>
        <a:spcAft>
          <a:spcPct val="0"/>
        </a:spcAft>
        <a:buClrTx/>
        <a:buFont typeface="Times" pitchFamily="18" charset="0"/>
        <a:buChar char="–"/>
        <a:defRPr sz="14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ts val="600"/>
        </a:spcBef>
        <a:spcAft>
          <a:spcPct val="0"/>
        </a:spcAft>
        <a:buClrTx/>
        <a:buFont typeface="Times" pitchFamily="18" charset="0"/>
        <a:buChar char="»"/>
        <a:defRPr sz="12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Times" pitchFamily="18" charset="0"/>
        <a:buChar char="»"/>
        <a:defRPr sz="1400">
          <a:solidFill>
            <a:schemeClr val="bg2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Times" pitchFamily="18" charset="0"/>
        <a:buChar char="»"/>
        <a:defRPr sz="1400">
          <a:solidFill>
            <a:schemeClr val="bg2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Times" pitchFamily="18" charset="0"/>
        <a:buChar char="»"/>
        <a:defRPr sz="1400">
          <a:solidFill>
            <a:schemeClr val="bg2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Times" pitchFamily="18" charset="0"/>
        <a:buChar char="»"/>
        <a:defRPr sz="1400">
          <a:solidFill>
            <a:schemeClr val="bg2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38" userDrawn="1">
          <p15:clr>
            <a:srgbClr val="F26B43"/>
          </p15:clr>
        </p15:guide>
        <p15:guide id="2" orient="horz" pos="4065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pos="7469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7242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3108" y="2926080"/>
            <a:ext cx="36576" cy="1280160"/>
          </a:xfrm>
          <a:prstGeom prst="rect">
            <a:avLst/>
          </a:prstGeom>
          <a:solidFill>
            <a:srgbClr val="56B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5988" y="2560321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dirty="0">
                <a:solidFill>
                  <a:srgbClr val="E8E4DC"/>
                </a:solidFill>
              </a:rPr>
              <a:t>LTV Analysis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988" y="3383281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56B4D3"/>
                </a:solidFill>
              </a:rPr>
              <a:t>Kaplan–Meier × Weibull Model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7EBFBB5D-2DAB-AF2B-C8CF-26969C615AB1}"/>
              </a:ext>
            </a:extLst>
          </p:cNvPr>
          <p:cNvSpPr txBox="1"/>
          <p:nvPr/>
        </p:nvSpPr>
        <p:spPr>
          <a:xfrm>
            <a:off x="914400" y="4023360"/>
            <a:ext cx="7315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300" b="0" dirty="0">
              <a:solidFill>
                <a:srgbClr val="888888"/>
              </a:solidFill>
            </a:endParaRPr>
          </a:p>
        </p:txBody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BDA04F1A-FB4F-D26D-D386-555459B81D67}"/>
              </a:ext>
            </a:extLst>
          </p:cNvPr>
          <p:cNvSpPr txBox="1"/>
          <p:nvPr/>
        </p:nvSpPr>
        <p:spPr>
          <a:xfrm>
            <a:off x="91440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AAAAAA"/>
                </a:solidFill>
              </a:rPr>
              <a:t>2026年03月25日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B02F75C9-DA7B-FFDD-1967-55B72BB2373C}"/>
              </a:ext>
            </a:extLst>
          </p:cNvPr>
          <p:cNvSpPr txBox="1"/>
          <p:nvPr/>
        </p:nvSpPr>
        <p:spPr>
          <a:xfrm>
            <a:off x="914400" y="4937760"/>
            <a:ext cx="54864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100" b="0" dirty="0">
              <a:solidFill>
                <a:srgbClr val="AAAAA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0AFB44A6-2E60-77D2-8195-3AE29DDB58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>
                <a:solidFill>
                  <a:srgbClr val="E8E4DC"/>
                </a:solidFill>
              </a:rPr>
              <a:t>2</a:t>
            </a:fld>
            <a:endParaRPr lang="en-US" dirty="0">
              <a:solidFill>
                <a:srgbClr val="E8E4DC"/>
              </a:solidFill>
            </a:endParaRP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8A969639-3564-2096-476C-321D3D82E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20" y="177569"/>
            <a:ext cx="11520000" cy="659654"/>
          </a:xfrm>
          <a:prstGeom prst="rect">
            <a:avLst/>
          </a:prstGeom>
        </p:spPr>
        <p:txBody>
          <a:bodyPr/>
          <a:lstStyle/>
          <a:p>
            <a:r>
              <a:rPr lang="ja-JP" altLang="en-US" dirty="0"/>
              <a:t>分析結果サマリー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E21EDB71-3EA0-49B5-7EAF-BC1E65B15DB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38138" y="825500"/>
            <a:ext cx="11520000" cy="68156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ja-JP" altLang="en-US" sz="1200" dirty="0">
                <a:solidFill>
                  <a:srgbClr val="88AABB"/>
                </a:solidFill>
              </a:rPr>
              <a:t>データ期間: 2023/01/01 – 2025/12/31　|　顧客数: 10,000件　|　解約済み: 6,429件　|　継続中: 3,571件　|　平均日次 ARPU: ¥294.81　|　GPM: 50%</a:t>
            </a:r>
          </a:p>
          <a:p>
            <a:pPr marL="0" indent="0">
              <a:buNone/>
            </a:pPr>
            <a:r>
              <a:rPr lang="ja-JP" altLang="en-US" sz="1200" dirty="0">
                <a:solidFill>
                  <a:srgbClr val="88AABB"/>
                </a:solidFill>
              </a:rPr>
              <a:t>異常値の処理：除外なし　|　サブスク・継続課金型　|　月額（カレンダーベース）　|　解約時の日割り計算：ON</a:t>
            </a:r>
          </a:p>
        </p:txBody>
      </p: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06C6682E-5371-56FF-025D-5D51C6F928D0}"/>
              </a:ext>
            </a:extLst>
          </p:cNvPr>
          <p:cNvGrpSpPr/>
          <p:nvPr/>
        </p:nvGrpSpPr>
        <p:grpSpPr>
          <a:xfrm>
            <a:off x="381788" y="2161117"/>
            <a:ext cx="11436750" cy="1528496"/>
            <a:chOff x="458788" y="1298448"/>
            <a:chExt cx="11631168" cy="1554480"/>
          </a:xfrm>
        </p:grpSpPr>
        <p:sp>
          <p:nvSpPr>
            <p:cNvPr id="28" name="Rectangle 5"/>
            <p:cNvSpPr/>
            <p:nvPr/>
          </p:nvSpPr>
          <p:spPr>
            <a:xfrm>
              <a:off x="458788" y="1298448"/>
              <a:ext cx="2194560" cy="1554480"/>
            </a:xfrm>
            <a:prstGeom prst="rect">
              <a:avLst/>
            </a:prstGeom>
            <a:solidFill>
              <a:srgbClr val="102030"/>
            </a:solidFill>
            <a:ln>
              <a:solidFill>
                <a:srgbClr val="2A4A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6"/>
            <p:cNvSpPr txBox="1"/>
            <p:nvPr/>
          </p:nvSpPr>
          <p:spPr>
            <a:xfrm>
              <a:off x="550229" y="1389889"/>
              <a:ext cx="20116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 dirty="0">
                  <a:solidFill>
                    <a:srgbClr val="56B4D3"/>
                  </a:solidFill>
                </a:rPr>
                <a:t>¥143,604</a:t>
              </a:r>
            </a:p>
          </p:txBody>
        </p:sp>
        <p:sp>
          <p:nvSpPr>
            <p:cNvPr id="30" name="TextBox 7"/>
            <p:cNvSpPr txBox="1"/>
            <p:nvPr/>
          </p:nvSpPr>
          <p:spPr>
            <a:xfrm>
              <a:off x="550229" y="2084831"/>
              <a:ext cx="201167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dirty="0">
                  <a:solidFill>
                    <a:srgbClr val="E8E4DC"/>
                  </a:solidFill>
                </a:rPr>
                <a:t>LTV∞（</a:t>
              </a:r>
              <a:r>
                <a:rPr sz="900" b="1" dirty="0" err="1">
                  <a:solidFill>
                    <a:srgbClr val="E8E4DC"/>
                  </a:solidFill>
                </a:rPr>
                <a:t>売上</a:t>
              </a:r>
              <a:r>
                <a:rPr sz="900" b="1" dirty="0">
                  <a:solidFill>
                    <a:srgbClr val="E8E4DC"/>
                  </a:solidFill>
                </a:rPr>
                <a:t>）</a:t>
              </a:r>
            </a:p>
          </p:txBody>
        </p:sp>
        <p:sp>
          <p:nvSpPr>
            <p:cNvPr id="32" name="TextBox 8"/>
            <p:cNvSpPr txBox="1"/>
            <p:nvPr/>
          </p:nvSpPr>
          <p:spPr>
            <a:xfrm>
              <a:off x="550229" y="2423161"/>
              <a:ext cx="201167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>
                  <a:solidFill>
                    <a:srgbClr val="AAAAAA"/>
                  </a:solidFill>
                </a:rPr>
                <a:t>Weibull積分</a:t>
              </a:r>
            </a:p>
          </p:txBody>
        </p:sp>
        <p:sp>
          <p:nvSpPr>
            <p:cNvPr id="33" name="Rectangle 9"/>
            <p:cNvSpPr/>
            <p:nvPr/>
          </p:nvSpPr>
          <p:spPr>
            <a:xfrm>
              <a:off x="2817940" y="1298448"/>
              <a:ext cx="2194560" cy="1554480"/>
            </a:xfrm>
            <a:prstGeom prst="rect">
              <a:avLst/>
            </a:prstGeom>
            <a:solidFill>
              <a:srgbClr val="102030"/>
            </a:solidFill>
            <a:ln>
              <a:solidFill>
                <a:srgbClr val="2A4A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10"/>
            <p:cNvSpPr txBox="1"/>
            <p:nvPr/>
          </p:nvSpPr>
          <p:spPr>
            <a:xfrm>
              <a:off x="2909381" y="1389889"/>
              <a:ext cx="20116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>
                  <a:solidFill>
                    <a:srgbClr val="56B4D3"/>
                  </a:solidFill>
                </a:rPr>
                <a:t>¥23,934</a:t>
              </a:r>
            </a:p>
          </p:txBody>
        </p:sp>
        <p:sp>
          <p:nvSpPr>
            <p:cNvPr id="35" name="TextBox 11"/>
            <p:cNvSpPr txBox="1"/>
            <p:nvPr/>
          </p:nvSpPr>
          <p:spPr>
            <a:xfrm>
              <a:off x="2909381" y="2084831"/>
              <a:ext cx="201167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 dirty="0" err="1">
                  <a:solidFill>
                    <a:srgbClr val="E8E4DC"/>
                  </a:solidFill>
                </a:rPr>
                <a:t>CAC上限（LTV:CAC = 3.0:1）</a:t>
              </a:r>
            </a:p>
          </p:txBody>
        </p:sp>
        <p:sp>
          <p:nvSpPr>
            <p:cNvPr id="36" name="TextBox 12"/>
            <p:cNvSpPr txBox="1"/>
            <p:nvPr/>
          </p:nvSpPr>
          <p:spPr>
            <a:xfrm>
              <a:off x="2909381" y="2423161"/>
              <a:ext cx="2011679" cy="21128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dirty="0" err="1">
                  <a:solidFill>
                    <a:srgbClr val="AAAAAA"/>
                  </a:solidFill>
                </a:rPr>
                <a:t>粗利ベース</a:t>
              </a:r>
              <a:endParaRPr sz="750" dirty="0">
                <a:solidFill>
                  <a:srgbClr val="AAAAAA"/>
                </a:solidFill>
              </a:endParaRPr>
            </a:p>
          </p:txBody>
        </p:sp>
        <p:sp>
          <p:nvSpPr>
            <p:cNvPr id="37" name="Rectangle 13"/>
            <p:cNvSpPr/>
            <p:nvPr/>
          </p:nvSpPr>
          <p:spPr>
            <a:xfrm>
              <a:off x="5177092" y="1298448"/>
              <a:ext cx="2194560" cy="1554480"/>
            </a:xfrm>
            <a:prstGeom prst="rect">
              <a:avLst/>
            </a:prstGeom>
            <a:solidFill>
              <a:srgbClr val="102030"/>
            </a:solidFill>
            <a:ln>
              <a:solidFill>
                <a:srgbClr val="2A4A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14"/>
            <p:cNvSpPr txBox="1"/>
            <p:nvPr/>
          </p:nvSpPr>
          <p:spPr>
            <a:xfrm>
              <a:off x="5268533" y="1389889"/>
              <a:ext cx="20116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>
                  <a:solidFill>
                    <a:srgbClr val="56B4D3"/>
                  </a:solidFill>
                </a:rPr>
                <a:t>0.767</a:t>
              </a:r>
            </a:p>
          </p:txBody>
        </p:sp>
        <p:sp>
          <p:nvSpPr>
            <p:cNvPr id="39" name="TextBox 15"/>
            <p:cNvSpPr txBox="1"/>
            <p:nvPr/>
          </p:nvSpPr>
          <p:spPr>
            <a:xfrm>
              <a:off x="5268533" y="2084831"/>
              <a:ext cx="201167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E8E4DC"/>
                  </a:solidFill>
                </a:rPr>
                <a:t>Weibull k</a:t>
              </a:r>
            </a:p>
          </p:txBody>
        </p:sp>
        <p:sp>
          <p:nvSpPr>
            <p:cNvPr id="40" name="TextBox 16"/>
            <p:cNvSpPr txBox="1"/>
            <p:nvPr/>
          </p:nvSpPr>
          <p:spPr>
            <a:xfrm>
              <a:off x="5268533" y="2423161"/>
              <a:ext cx="201167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 dirty="0">
                  <a:solidFill>
                    <a:srgbClr val="AAAAAA"/>
                  </a:solidFill>
                </a:rPr>
                <a:t>k&lt;1:初期離脱型  k&gt;1:逓増型</a:t>
              </a:r>
            </a:p>
          </p:txBody>
        </p:sp>
        <p:sp>
          <p:nvSpPr>
            <p:cNvPr id="41" name="Rectangle 17"/>
            <p:cNvSpPr/>
            <p:nvPr/>
          </p:nvSpPr>
          <p:spPr>
            <a:xfrm>
              <a:off x="7536244" y="1298448"/>
              <a:ext cx="2194560" cy="1554480"/>
            </a:xfrm>
            <a:prstGeom prst="rect">
              <a:avLst/>
            </a:prstGeom>
            <a:solidFill>
              <a:srgbClr val="102030"/>
            </a:solidFill>
            <a:ln>
              <a:solidFill>
                <a:srgbClr val="2A4A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18"/>
            <p:cNvSpPr txBox="1"/>
            <p:nvPr/>
          </p:nvSpPr>
          <p:spPr>
            <a:xfrm>
              <a:off x="7627685" y="1389889"/>
              <a:ext cx="20116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>
                  <a:solidFill>
                    <a:srgbClr val="56B4D3"/>
                  </a:solidFill>
                </a:rPr>
                <a:t>416日</a:t>
              </a:r>
            </a:p>
          </p:txBody>
        </p:sp>
        <p:sp>
          <p:nvSpPr>
            <p:cNvPr id="43" name="TextBox 19"/>
            <p:cNvSpPr txBox="1"/>
            <p:nvPr/>
          </p:nvSpPr>
          <p:spPr>
            <a:xfrm>
              <a:off x="7627685" y="2084831"/>
              <a:ext cx="201167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E8E4DC"/>
                  </a:solidFill>
                </a:rPr>
                <a:t>Weibull λ</a:t>
              </a:r>
            </a:p>
          </p:txBody>
        </p:sp>
        <p:sp>
          <p:nvSpPr>
            <p:cNvPr id="44" name="TextBox 20"/>
            <p:cNvSpPr txBox="1"/>
            <p:nvPr/>
          </p:nvSpPr>
          <p:spPr>
            <a:xfrm>
              <a:off x="7627685" y="2423161"/>
              <a:ext cx="201167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>
                  <a:solidFill>
                    <a:srgbClr val="AAAAAA"/>
                  </a:solidFill>
                </a:rPr>
                <a:t>値が大きいほど長期継続</a:t>
              </a:r>
            </a:p>
          </p:txBody>
        </p:sp>
        <p:sp>
          <p:nvSpPr>
            <p:cNvPr id="45" name="Rectangle 21"/>
            <p:cNvSpPr/>
            <p:nvPr/>
          </p:nvSpPr>
          <p:spPr>
            <a:xfrm>
              <a:off x="9895396" y="1298448"/>
              <a:ext cx="2194560" cy="1554480"/>
            </a:xfrm>
            <a:prstGeom prst="rect">
              <a:avLst/>
            </a:prstGeom>
            <a:solidFill>
              <a:srgbClr val="102030"/>
            </a:solidFill>
            <a:ln>
              <a:solidFill>
                <a:srgbClr val="2A4A5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6" name="TextBox 22"/>
            <p:cNvSpPr txBox="1"/>
            <p:nvPr/>
          </p:nvSpPr>
          <p:spPr>
            <a:xfrm>
              <a:off x="9986837" y="1389889"/>
              <a:ext cx="2011679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2200" b="1">
                  <a:solidFill>
                    <a:srgbClr val="56B4D3"/>
                  </a:solidFill>
                </a:rPr>
                <a:t>0.985</a:t>
              </a:r>
            </a:p>
          </p:txBody>
        </p:sp>
        <p:sp>
          <p:nvSpPr>
            <p:cNvPr id="47" name="TextBox 23"/>
            <p:cNvSpPr txBox="1"/>
            <p:nvPr/>
          </p:nvSpPr>
          <p:spPr>
            <a:xfrm>
              <a:off x="9986837" y="2084831"/>
              <a:ext cx="2011679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900" b="1">
                  <a:solidFill>
                    <a:srgbClr val="E8E4DC"/>
                  </a:solidFill>
                </a:rPr>
                <a:t>R²</a:t>
              </a:r>
            </a:p>
          </p:txBody>
        </p:sp>
        <p:sp>
          <p:nvSpPr>
            <p:cNvPr id="48" name="TextBox 24"/>
            <p:cNvSpPr txBox="1"/>
            <p:nvPr/>
          </p:nvSpPr>
          <p:spPr>
            <a:xfrm>
              <a:off x="9986837" y="2423161"/>
              <a:ext cx="2011679" cy="20774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750">
                  <a:solidFill>
                    <a:srgbClr val="AAAAAA"/>
                  </a:solidFill>
                </a:rPr>
                <a:t>0.9以上が理想</a:t>
              </a:r>
            </a:p>
          </p:txBody>
        </p:sp>
      </p:grpSp>
      <p:sp>
        <p:nvSpPr>
          <p:cNvPr id="50" name="テキスト ボックス 49">
            <a:extLst>
              <a:ext uri="{FF2B5EF4-FFF2-40B4-BE49-F238E27FC236}">
                <a16:creationId xmlns:a16="http://schemas.microsoft.com/office/drawing/2014/main" id="{6026F7C3-891F-3AA2-4A7D-4888492CF05E}"/>
              </a:ext>
            </a:extLst>
          </p:cNvPr>
          <p:cNvSpPr txBox="1"/>
          <p:nvPr/>
        </p:nvSpPr>
        <p:spPr>
          <a:xfrm>
            <a:off x="336387" y="4593014"/>
            <a:ext cx="11520000" cy="9335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50"/>
              </a:spcAft>
              <a:buNone/>
            </a:pPr>
            <a:r>
              <a:rPr lang="ja-JP" altLang="en-US" sz="1200" b="1" i="0" cap="all" dirty="0">
                <a:solidFill>
                  <a:srgbClr val="56B4D3"/>
                </a:solidFill>
                <a:effectLst/>
                <a:latin typeface="BIZ UDPGothic" panose="020B0400000000000000" pitchFamily="50" charset="-128"/>
                <a:ea typeface="BIZ UDPGothic" panose="020B0400000000000000" pitchFamily="50" charset="-128"/>
              </a:rPr>
              <a:t>結論</a:t>
            </a:r>
          </a:p>
          <a:p>
            <a:pPr algn="l">
              <a:buNone/>
            </a:pPr>
            <a:r>
              <a:rPr lang="en-US" altLang="ja-JP" sz="1200" b="0" i="0" dirty="0">
                <a:solidFill>
                  <a:srgbClr val="E8E4DC"/>
                </a:solidFill>
                <a:effectLst/>
                <a:latin typeface="BIZ UDPGothic" panose="020B0400000000000000" pitchFamily="50" charset="-128"/>
                <a:ea typeface="BIZ UDPGothic" panose="020B0400000000000000" pitchFamily="50" charset="-128"/>
              </a:rPr>
              <a:t>k=0.767の初期離脱型です。最初の契約期間のみで解約した顧客は11%です。初期を乗り越えた顧客の多くはλ=416日（約1.1年）以上継続する傾向があります。LTV∞は¥143,604でCAC上限は¥23,934ですが、投資回収は比較的長期になるため、暫定LTVテーブルで現実的な回収期間を確認してCACを設計してください。R²=0.985はモデル精度が非常に高く、この推定値は意思決定に十分活用できます。</a:t>
            </a:r>
          </a:p>
        </p:txBody>
      </p:sp>
    </p:spTree>
    <p:extLst>
      <p:ext uri="{BB962C8B-B14F-4D97-AF65-F5344CB8AC3E}">
        <p14:creationId xmlns:p14="http://schemas.microsoft.com/office/powerpoint/2010/main" val="1634276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テキスト プレースホルダー 44">
            <a:extLst>
              <a:ext uri="{FF2B5EF4-FFF2-40B4-BE49-F238E27FC236}">
                <a16:creationId xmlns:a16="http://schemas.microsoft.com/office/drawing/2014/main" id="{3093C6FA-4945-FF01-A641-DFA2E0ED2D8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338138" y="825500"/>
            <a:ext cx="11520000" cy="681567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ja-JP" sz="1200" dirty="0">
                <a:solidFill>
                  <a:srgbClr val="88AABB"/>
                </a:solidFill>
              </a:rPr>
              <a:t>Weibull</a:t>
            </a:r>
            <a:r>
              <a:rPr lang="ja-JP" altLang="en-US" sz="1200" dirty="0">
                <a:solidFill>
                  <a:srgbClr val="88AABB"/>
                </a:solidFill>
              </a:rPr>
              <a:t>パラメータの読み方と示唆</a:t>
            </a:r>
          </a:p>
          <a:p>
            <a:endParaRPr lang="ja-JP" altLang="en-US" sz="1200" dirty="0">
              <a:solidFill>
                <a:srgbClr val="88AABB"/>
              </a:solidFill>
            </a:endParaRPr>
          </a:p>
        </p:txBody>
      </p:sp>
      <p:pic>
        <p:nvPicPr>
          <p:cNvPr id="41" name="Picture 3" descr="image.png"/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695325" y="1715984"/>
            <a:ext cx="5383213" cy="3035215"/>
          </a:xfrm>
          <a:prstGeom prst="rect">
            <a:avLst/>
          </a:prstGeom>
        </p:spPr>
      </p:pic>
      <p:pic>
        <p:nvPicPr>
          <p:cNvPr id="42" name="Picture 4" descr="image.png"/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6096000" y="1711061"/>
            <a:ext cx="5400675" cy="3045061"/>
          </a:xfrm>
          <a:prstGeom prst="rect">
            <a:avLst/>
          </a:prstGeom>
        </p:spPr>
      </p:pic>
      <p:sp>
        <p:nvSpPr>
          <p:cNvPr id="32" name="タイトル 31">
            <a:extLst>
              <a:ext uri="{FF2B5EF4-FFF2-40B4-BE49-F238E27FC236}">
                <a16:creationId xmlns:a16="http://schemas.microsoft.com/office/drawing/2014/main" id="{5A2A1AAD-4A37-FE57-EA04-7217D0420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分析の信頼性</a:t>
            </a:r>
          </a:p>
        </p:txBody>
      </p:sp>
      <p:sp>
        <p:nvSpPr>
          <p:cNvPr id="43" name="TextBox 7"/>
          <p:cNvSpPr txBox="1"/>
          <p:nvPr/>
        </p:nvSpPr>
        <p:spPr>
          <a:xfrm>
            <a:off x="706640" y="5101391"/>
            <a:ext cx="53718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dirty="0" err="1">
                <a:solidFill>
                  <a:srgbClr val="E8E4DC"/>
                </a:solidFill>
              </a:rPr>
              <a:t>k（形状パラメータ） = 0.767
→ 左グラフ（Survival Curve）の曲線の急峻さを決める値。k=1で指数分布（一定離脱率）
→ k=0.767（緩やかな初期集中型）: 離脱率は一定に近いが初期にやや多め。オンボーディング改善とリテンション施策を並行実施。</a:t>
            </a:r>
          </a:p>
        </p:txBody>
      </p:sp>
      <p:sp>
        <p:nvSpPr>
          <p:cNvPr id="44" name="TextBox 8"/>
          <p:cNvSpPr txBox="1"/>
          <p:nvPr/>
        </p:nvSpPr>
        <p:spPr>
          <a:xfrm>
            <a:off x="6113464" y="5101391"/>
            <a:ext cx="540067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dirty="0" err="1">
                <a:solidFill>
                  <a:srgbClr val="E8E4DC"/>
                </a:solidFill>
              </a:rPr>
              <a:t>λ（尺度パラメータ） = 416.4日（約1.1年）
→ 大きいほどLTV∞到達が長期化する。λ日時点での暫定LTV到達率はk値により異なる（k=1のとき63.2%）
→ R²=0.985: 非常に高精度。LTV∞推定値の信頼性は高い。</a:t>
            </a:r>
          </a:p>
        </p:txBody>
      </p:sp>
      <p:sp>
        <p:nvSpPr>
          <p:cNvPr id="46" name="スライド番号プレースホルダー 45">
            <a:extLst>
              <a:ext uri="{FF2B5EF4-FFF2-40B4-BE49-F238E27FC236}">
                <a16:creationId xmlns:a16="http://schemas.microsoft.com/office/drawing/2014/main" id="{93B6C35E-7C9A-5968-11A0-512A83C879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3</a:t>
            </a:fld>
            <a:r>
              <a:rPr lang="en-US"/>
              <a:t> 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982FBF3-DADF-3690-C0B4-F550C8BD00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4</a:t>
            </a:fld>
            <a:r>
              <a:rPr lang="en-US"/>
              <a:t> </a:t>
            </a:r>
            <a:endParaRPr lang="en-US" dirty="0"/>
          </a:p>
        </p:txBody>
      </p:sp>
      <p:sp>
        <p:nvSpPr>
          <p:cNvPr id="7" name="タイトル 6">
            <a:extLst>
              <a:ext uri="{FF2B5EF4-FFF2-40B4-BE49-F238E27FC236}">
                <a16:creationId xmlns:a16="http://schemas.microsoft.com/office/drawing/2014/main" id="{1F98959A-49B1-6713-A1AB-8B5A5918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暫定 </a:t>
            </a:r>
            <a:r>
              <a:rPr lang="en-US" altLang="zh-TW" dirty="0"/>
              <a:t>LTV — </a:t>
            </a:r>
            <a:r>
              <a:rPr lang="zh-TW" altLang="en-US" dirty="0"/>
              <a:t>観測期間別</a:t>
            </a:r>
            <a:endParaRPr lang="ja-JP" altLang="en-US" dirty="0"/>
          </a:p>
        </p:txBody>
      </p:sp>
      <p:graphicFrame>
        <p:nvGraphicFramePr>
          <p:cNvPr id="5" name="コンテンツ プレースホルダー 4">
            <a:extLst>
              <a:ext uri="{FF2B5EF4-FFF2-40B4-BE49-F238E27FC236}">
                <a16:creationId xmlns:a16="http://schemas.microsoft.com/office/drawing/2014/main" id="{9440F2D1-43AE-10AD-7ABE-0D14946486C1}"/>
              </a:ext>
            </a:extLst>
          </p:cNvPr>
          <p:cNvGraphicFramePr>
            <a:graphicFrameLocks noGrp="1"/>
          </p:cNvGraphicFramePr>
          <p:nvPr>
            <p:ph sz="quarter" idx="13"/>
            <p:extLst>
              <p:ext uri="{D42A27DB-BD31-4B8C-83A1-F6EECF244321}">
                <p14:modId xmlns:p14="http://schemas.microsoft.com/office/powerpoint/2010/main" val="1601525040"/>
              </p:ext>
            </p:extLst>
          </p:nvPr>
        </p:nvGraphicFramePr>
        <p:xfrm>
          <a:off x="695325" y="1371599"/>
          <a:ext cx="10801349" cy="2710542"/>
        </p:xfrm>
        <a:graphic>
          <a:graphicData uri="http://schemas.openxmlformats.org/drawingml/2006/table">
            <a:tbl>
              <a:tblPr/>
              <a:tblGrid>
                <a:gridCol w="3024366">
                  <a:extLst>
                    <a:ext uri="{9D8B030D-6E8A-4147-A177-3AD203B41FA5}">
                      <a16:colId xmlns:a16="http://schemas.microsoft.com/office/drawing/2014/main" val="2351957108"/>
                    </a:ext>
                  </a:extLst>
                </a:gridCol>
                <a:gridCol w="1944141">
                  <a:extLst>
                    <a:ext uri="{9D8B030D-6E8A-4147-A177-3AD203B41FA5}">
                      <a16:colId xmlns:a16="http://schemas.microsoft.com/office/drawing/2014/main" val="532809640"/>
                    </a:ext>
                  </a:extLst>
                </a:gridCol>
                <a:gridCol w="1944141">
                  <a:extLst>
                    <a:ext uri="{9D8B030D-6E8A-4147-A177-3AD203B41FA5}">
                      <a16:colId xmlns:a16="http://schemas.microsoft.com/office/drawing/2014/main" val="3945560341"/>
                    </a:ext>
                  </a:extLst>
                </a:gridCol>
                <a:gridCol w="1944141">
                  <a:extLst>
                    <a:ext uri="{9D8B030D-6E8A-4147-A177-3AD203B41FA5}">
                      <a16:colId xmlns:a16="http://schemas.microsoft.com/office/drawing/2014/main" val="1013137362"/>
                    </a:ext>
                  </a:extLst>
                </a:gridCol>
                <a:gridCol w="1944560">
                  <a:extLst>
                    <a:ext uri="{9D8B030D-6E8A-4147-A177-3AD203B41FA5}">
                      <a16:colId xmlns:a16="http://schemas.microsoft.com/office/drawing/2014/main" val="898176482"/>
                    </a:ext>
                  </a:extLst>
                </a:gridCol>
              </a:tblGrid>
              <a:tr h="35120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1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ホライズン</a:t>
                      </a:r>
                    </a:p>
                  </a:txBody>
                  <a:tcPr marL="70475" marR="70475" marT="45305" marB="45305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LTV（</a:t>
                      </a:r>
                      <a:r>
                        <a:rPr lang="ja-JP" altLang="en-US" sz="11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売上）</a:t>
                      </a:r>
                    </a:p>
                  </a:txBody>
                  <a:tcPr marL="70475" marR="70475" marT="45305" marB="45305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LTV（</a:t>
                      </a:r>
                      <a:r>
                        <a:rPr lang="ja-JP" altLang="en-US" sz="11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粗利）</a:t>
                      </a:r>
                    </a:p>
                  </a:txBody>
                  <a:tcPr marL="70475" marR="70475" marT="45305" marB="45305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CAC</a:t>
                      </a:r>
                      <a:r>
                        <a:rPr lang="ja-JP" altLang="en-US" sz="11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上限</a:t>
                      </a:r>
                    </a:p>
                  </a:txBody>
                  <a:tcPr marL="70475" marR="70475" marT="45305" marB="45305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LTV∞</a:t>
                      </a:r>
                      <a:r>
                        <a:rPr lang="ja-JP" altLang="en-US" sz="11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到達率</a:t>
                      </a:r>
                    </a:p>
                  </a:txBody>
                  <a:tcPr marL="70475" marR="70475" marT="45305" marB="45305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923052"/>
                  </a:ext>
                </a:extLst>
              </a:tr>
              <a:tr h="3366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1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180日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¥8,449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¥4,224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¥1,408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5.9%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061669"/>
                  </a:ext>
                </a:extLst>
              </a:tr>
              <a:tr h="3366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1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1年（365日）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¥22,948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¥11,474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¥3,825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16.0%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834007"/>
                  </a:ext>
                </a:extLst>
              </a:tr>
              <a:tr h="3366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1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2年（730日）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¥52,296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¥26,148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¥8,716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36.4%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133818"/>
                  </a:ext>
                </a:extLst>
              </a:tr>
              <a:tr h="3366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1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3年（1,095日）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¥76,564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¥38,282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¥12,761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53.3%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891947"/>
                  </a:ext>
                </a:extLst>
              </a:tr>
              <a:tr h="3366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1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5年（1,825日）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¥108,505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¥54,253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¥18,084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75.6%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21435"/>
                  </a:ext>
                </a:extLst>
              </a:tr>
              <a:tr h="33665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1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λ 416日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¥27,218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¥13,609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 dirty="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¥4,536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 dirty="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19.0%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530401"/>
                  </a:ext>
                </a:extLst>
              </a:tr>
              <a:tr h="33938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TW" sz="11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LTV∞到達率: 99%（5,461日）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¥142,167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¥71,084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¥23,695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1000" dirty="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99.0%</a:t>
                      </a:r>
                    </a:p>
                  </a:txBody>
                  <a:tcPr marL="88900" marR="88900" marT="50800" marB="50800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73313"/>
                  </a:ext>
                </a:extLst>
              </a:tr>
            </a:tbl>
          </a:graphicData>
        </a:graphic>
      </p:graphicFrame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06278BD-C402-99A1-6704-4C16FD37D119}"/>
              </a:ext>
            </a:extLst>
          </p:cNvPr>
          <p:cNvSpPr txBox="1"/>
          <p:nvPr/>
        </p:nvSpPr>
        <p:spPr>
          <a:xfrm>
            <a:off x="695325" y="4206240"/>
            <a:ext cx="10801349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  <a:buNone/>
            </a:pPr>
            <a:r>
              <a:rPr lang="ja-JP" altLang="en-US" sz="1000" b="1" dirty="0">
                <a:solidFill>
                  <a:srgbClr val="3A6A7A"/>
                </a:solidFill>
              </a:rPr>
              <a:t>このテーブルの読み方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ja-JP" altLang="en-US" sz="1000" dirty="0">
                <a:solidFill>
                  <a:srgbClr val="CCCCCC"/>
                </a:solidFill>
              </a:rPr>
              <a:t>λ=416日（約1.1年）は中程度の継続期間で、1〜2年継続する顧客が多いビジネスです。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ja-JP" altLang="en-US" sz="1000" dirty="0">
                <a:solidFill>
                  <a:srgbClr val="CCCCCC"/>
                </a:solidFill>
              </a:rPr>
              <a:t>k=0.767（初期離脱型）: 契約直後に大量離脱するパターンです。LTV∞は大きく見えますが少数の超長期顧客の分が含まれており、99%到達まで長期間かかります。CAC投資判断には暫定LTV（現実的な期間）を使ってください。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ja-JP" altLang="en-US" sz="1000" dirty="0">
                <a:solidFill>
                  <a:srgbClr val="CCCCCC"/>
                </a:solidFill>
              </a:rPr>
              <a:t>LTV∞（¥143,604）は理論上の上限値で、実際にはこの金額に向かって時間をかけて積み上がります。</a:t>
            </a:r>
            <a:br>
              <a:rPr lang="ja-JP" dirty="0"/>
            </a:br>
            <a:r>
              <a:rPr lang="ja-JP" altLang="en-US" sz="1000" dirty="0">
                <a:solidFill>
                  <a:srgbClr val="56B4D3"/>
                </a:solidFill>
              </a:rPr>
              <a:t>1年時点</a:t>
            </a:r>
            <a:r>
              <a:rPr lang="ja-JP" altLang="en-US" sz="1000" dirty="0">
                <a:solidFill>
                  <a:srgbClr val="CCCCCC"/>
                </a:solidFill>
              </a:rPr>
              <a:t>でLTV∞の</a:t>
            </a:r>
            <a:r>
              <a:rPr lang="ja-JP" altLang="en-US" sz="1000" b="1" dirty="0">
                <a:solidFill>
                  <a:srgbClr val="A8DADC"/>
                </a:solidFill>
              </a:rPr>
              <a:t>16.0%</a:t>
            </a:r>
            <a:r>
              <a:rPr lang="ja-JP" altLang="en-US" sz="1000" dirty="0">
                <a:solidFill>
                  <a:srgbClr val="CCCCCC"/>
                </a:solidFill>
              </a:rPr>
              <a:t>（¥22,948）、</a:t>
            </a:r>
            <a:r>
              <a:rPr lang="ja-JP" altLang="en-US" sz="1000" dirty="0">
                <a:solidFill>
                  <a:srgbClr val="56B4D3"/>
                </a:solidFill>
              </a:rPr>
              <a:t>2年時点</a:t>
            </a:r>
            <a:r>
              <a:rPr lang="ja-JP" altLang="en-US" sz="1000" dirty="0">
                <a:solidFill>
                  <a:srgbClr val="CCCCCC"/>
                </a:solidFill>
              </a:rPr>
              <a:t>で</a:t>
            </a:r>
            <a:r>
              <a:rPr lang="ja-JP" altLang="en-US" sz="1000" b="1" dirty="0">
                <a:solidFill>
                  <a:srgbClr val="A8DADC"/>
                </a:solidFill>
              </a:rPr>
              <a:t>36.4%</a:t>
            </a:r>
            <a:r>
              <a:rPr lang="ja-JP" altLang="en-US" sz="1000" dirty="0">
                <a:solidFill>
                  <a:srgbClr val="CCCCCC"/>
                </a:solidFill>
              </a:rPr>
              <a:t>（¥52,296）、</a:t>
            </a:r>
            <a:r>
              <a:rPr lang="ja-JP" altLang="en-US" sz="1000" dirty="0">
                <a:solidFill>
                  <a:srgbClr val="56B4D3"/>
                </a:solidFill>
              </a:rPr>
              <a:t>3年時点</a:t>
            </a:r>
            <a:r>
              <a:rPr lang="ja-JP" altLang="en-US" sz="1000" dirty="0">
                <a:solidFill>
                  <a:srgbClr val="CCCCCC"/>
                </a:solidFill>
              </a:rPr>
              <a:t>で</a:t>
            </a:r>
            <a:r>
              <a:rPr lang="ja-JP" altLang="en-US" sz="1000" b="1" dirty="0">
                <a:solidFill>
                  <a:srgbClr val="A8DADC"/>
                </a:solidFill>
              </a:rPr>
              <a:t>53.3%</a:t>
            </a:r>
            <a:r>
              <a:rPr lang="ja-JP" altLang="en-US" sz="1000" dirty="0">
                <a:solidFill>
                  <a:srgbClr val="CCCCCC"/>
                </a:solidFill>
              </a:rPr>
              <a:t>（¥76,564）に到達します。</a:t>
            </a:r>
            <a:br>
              <a:rPr lang="en-US" altLang="ja-JP" sz="1000" dirty="0">
                <a:solidFill>
                  <a:srgbClr val="CCCCCC"/>
                </a:solidFill>
              </a:rPr>
            </a:br>
            <a:endParaRPr lang="en-US" altLang="ja-JP" sz="1000" dirty="0">
              <a:solidFill>
                <a:srgbClr val="CCCCCC"/>
              </a:solidFill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ja-JP" sz="1000" b="0" i="0" dirty="0">
                <a:solidFill>
                  <a:srgbClr val="CCCCCC"/>
                </a:solidFill>
                <a:effectLst/>
                <a:latin typeface="+mn-ea"/>
              </a:rPr>
              <a:t>CAC</a:t>
            </a:r>
            <a:r>
              <a:rPr lang="ja-JP" altLang="en-US" sz="1000" b="0" i="0" dirty="0">
                <a:solidFill>
                  <a:srgbClr val="CCCCCC"/>
                </a:solidFill>
                <a:effectLst/>
                <a:latin typeface="+mn-ea"/>
              </a:rPr>
              <a:t>上限（</a:t>
            </a:r>
            <a:r>
              <a:rPr lang="en-US" altLang="ja-JP" sz="1000" b="0" i="0" dirty="0">
                <a:solidFill>
                  <a:srgbClr val="CCCCCC"/>
                </a:solidFill>
                <a:effectLst/>
                <a:latin typeface="+mn-ea"/>
              </a:rPr>
              <a:t>¥23,934</a:t>
            </a:r>
            <a:r>
              <a:rPr lang="ja-JP" altLang="en-US" sz="1000" b="0" i="0" dirty="0">
                <a:solidFill>
                  <a:srgbClr val="CCCCCC"/>
                </a:solidFill>
                <a:effectLst/>
                <a:latin typeface="+mn-ea"/>
              </a:rPr>
              <a:t>）の回収期間：売上ベース 約 </a:t>
            </a:r>
            <a:r>
              <a:rPr lang="en-US" altLang="ja-JP" sz="1000" b="1" i="0" dirty="0">
                <a:solidFill>
                  <a:srgbClr val="A8DADC"/>
                </a:solidFill>
                <a:effectLst/>
                <a:latin typeface="+mn-ea"/>
              </a:rPr>
              <a:t>1.0</a:t>
            </a:r>
            <a:r>
              <a:rPr lang="ja-JP" altLang="en-US" sz="1000" b="1" i="0" dirty="0">
                <a:solidFill>
                  <a:srgbClr val="A8DADC"/>
                </a:solidFill>
                <a:effectLst/>
                <a:latin typeface="+mn-ea"/>
              </a:rPr>
              <a:t>年（</a:t>
            </a:r>
            <a:r>
              <a:rPr lang="en-US" altLang="ja-JP" sz="1000" b="1" i="0" dirty="0">
                <a:solidFill>
                  <a:srgbClr val="A8DADC"/>
                </a:solidFill>
                <a:effectLst/>
                <a:latin typeface="+mn-ea"/>
              </a:rPr>
              <a:t>376</a:t>
            </a:r>
            <a:r>
              <a:rPr lang="ja-JP" altLang="en-US" sz="1000" b="1" i="0" dirty="0">
                <a:solidFill>
                  <a:srgbClr val="A8DADC"/>
                </a:solidFill>
                <a:effectLst/>
                <a:latin typeface="+mn-ea"/>
              </a:rPr>
              <a:t>日）</a:t>
            </a:r>
            <a:r>
              <a:rPr lang="ja-JP" altLang="en-US" sz="1000" b="0" i="0" dirty="0">
                <a:solidFill>
                  <a:srgbClr val="CCCCCC"/>
                </a:solidFill>
                <a:effectLst/>
                <a:latin typeface="+mn-ea"/>
              </a:rPr>
              <a:t> </a:t>
            </a:r>
            <a:r>
              <a:rPr lang="en-US" altLang="ja-JP" sz="1000" b="0" i="0" dirty="0">
                <a:solidFill>
                  <a:srgbClr val="CCCCCC"/>
                </a:solidFill>
                <a:effectLst/>
                <a:latin typeface="+mn-ea"/>
              </a:rPr>
              <a:t>/ </a:t>
            </a:r>
            <a:r>
              <a:rPr lang="ja-JP" altLang="en-US" sz="1000" b="0" i="0" dirty="0">
                <a:solidFill>
                  <a:srgbClr val="CCCCCC"/>
                </a:solidFill>
                <a:effectLst/>
                <a:latin typeface="+mn-ea"/>
              </a:rPr>
              <a:t>粗利ベース 約 </a:t>
            </a:r>
            <a:r>
              <a:rPr lang="en-US" altLang="ja-JP" sz="1000" b="1" i="0" dirty="0">
                <a:solidFill>
                  <a:srgbClr val="56B4D3"/>
                </a:solidFill>
                <a:effectLst/>
                <a:latin typeface="+mn-ea"/>
              </a:rPr>
              <a:t>1.8</a:t>
            </a:r>
            <a:r>
              <a:rPr lang="ja-JP" altLang="en-US" sz="1000" b="1" i="0" dirty="0">
                <a:solidFill>
                  <a:srgbClr val="56B4D3"/>
                </a:solidFill>
                <a:effectLst/>
                <a:latin typeface="+mn-ea"/>
              </a:rPr>
              <a:t>年（</a:t>
            </a:r>
            <a:r>
              <a:rPr lang="en-US" altLang="ja-JP" sz="1000" b="1" i="0" dirty="0">
                <a:solidFill>
                  <a:srgbClr val="56B4D3"/>
                </a:solidFill>
                <a:effectLst/>
                <a:latin typeface="+mn-ea"/>
              </a:rPr>
              <a:t>671</a:t>
            </a:r>
            <a:r>
              <a:rPr lang="ja-JP" altLang="en-US" sz="1000" b="1" i="0" dirty="0">
                <a:solidFill>
                  <a:srgbClr val="56B4D3"/>
                </a:solidFill>
                <a:effectLst/>
                <a:latin typeface="+mn-ea"/>
              </a:rPr>
              <a:t>日）</a:t>
            </a:r>
            <a:br>
              <a:rPr lang="en-US" altLang="ja-JP" sz="1000" dirty="0">
                <a:solidFill>
                  <a:srgbClr val="CCCCCC"/>
                </a:solidFill>
                <a:latin typeface="+mn-ea"/>
              </a:rPr>
            </a:br>
            <a:endParaRPr lang="ja-JP" altLang="en-US" sz="1000" b="0" i="0" dirty="0">
              <a:solidFill>
                <a:srgbClr val="CCCCCC"/>
              </a:solidFill>
              <a:effectLst/>
              <a:latin typeface="BIZ UDPGothic" panose="020B0400000000000000" pitchFamily="50" charset="-128"/>
              <a:ea typeface="BIZ UDPGothic" panose="020B0400000000000000" pitchFamily="50" charset="-128"/>
            </a:endParaRPr>
          </a:p>
          <a:p>
            <a:pPr algn="l">
              <a:spcBef>
                <a:spcPts val="900"/>
              </a:spcBef>
              <a:buNone/>
            </a:pPr>
            <a:r>
              <a:rPr lang="ja-JP" altLang="en-US" sz="1000" b="1" dirty="0">
                <a:solidFill>
                  <a:srgbClr val="56B4D3"/>
                </a:solidFill>
              </a:rPr>
              <a:t>CAC設計の目安</a:t>
            </a:r>
            <a:r>
              <a:rPr lang="ja-JP" altLang="en-US" sz="1000" dirty="0">
                <a:solidFill>
                  <a:srgbClr val="CCCCCC"/>
                </a:solidFill>
              </a:rPr>
              <a:t>：回収期間に迷ったら、 </a:t>
            </a:r>
            <a:r>
              <a:rPr lang="ja-JP" altLang="en-US" sz="1000" b="1" dirty="0">
                <a:solidFill>
                  <a:srgbClr val="A8DADC"/>
                </a:solidFill>
              </a:rPr>
              <a:t>λ=416日（約1.1年）時点の暫定LTV（粗利）¥13,609</a:t>
            </a:r>
            <a:r>
              <a:rPr lang="ja-JP" altLang="en-US" sz="1000" dirty="0">
                <a:solidFill>
                  <a:srgbClr val="CCCCCC"/>
                </a:solidFill>
              </a:rPr>
              <a:t> を用いてCAC上限を算出してください。λは多くの顧客が離脱するまでの期間の目安をデータが示した答えです。</a:t>
            </a:r>
          </a:p>
        </p:txBody>
      </p:sp>
    </p:spTree>
    <p:extLst>
      <p:ext uri="{BB962C8B-B14F-4D97-AF65-F5344CB8AC3E}">
        <p14:creationId xmlns:p14="http://schemas.microsoft.com/office/powerpoint/2010/main" val="23187231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335F1D06-F164-98A3-7DAF-1628DAEEC2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5</a:t>
            </a:fld>
            <a:r>
              <a:rPr lang="en-US"/>
              <a:t> </a:t>
            </a:r>
            <a:endParaRPr lang="en-US" dirty="0"/>
          </a:p>
        </p:txBody>
      </p:sp>
      <p:pic>
        <p:nvPicPr>
          <p:cNvPr id="8" name="コンテンツ プレースホルダー 7">
            <a:extLst>
              <a:ext uri="{FF2B5EF4-FFF2-40B4-BE49-F238E27FC236}">
                <a16:creationId xmlns:a16="http://schemas.microsoft.com/office/drawing/2014/main" id="{BCE0F839-8671-6F6C-AEB6-E7256DB5EEB4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32" y="1709057"/>
            <a:ext cx="11040936" cy="3442608"/>
          </a:xfrm>
          <a:prstGeom prst="rect">
            <a:avLst/>
          </a:prstGeom>
        </p:spPr>
      </p:pic>
      <p:sp>
        <p:nvSpPr>
          <p:cNvPr id="6" name="タイトル 5">
            <a:extLst>
              <a:ext uri="{FF2B5EF4-FFF2-40B4-BE49-F238E27FC236}">
                <a16:creationId xmlns:a16="http://schemas.microsoft.com/office/drawing/2014/main" id="{B8CE89EF-3DF4-DC27-DD30-05110384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暫定 </a:t>
            </a:r>
            <a:r>
              <a:rPr lang="en-US" altLang="ja-JP" dirty="0"/>
              <a:t>LTV — </a:t>
            </a:r>
            <a:r>
              <a:rPr lang="ja-JP" altLang="en-US" dirty="0"/>
              <a:t>観測期間別の推移グラフ</a:t>
            </a:r>
          </a:p>
        </p:txBody>
      </p:sp>
    </p:spTree>
    <p:extLst>
      <p:ext uri="{BB962C8B-B14F-4D97-AF65-F5344CB8AC3E}">
        <p14:creationId xmlns:p14="http://schemas.microsoft.com/office/powerpoint/2010/main" val="2461065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1DB7B-28B3-28EA-47F3-89F2A4C5E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1C2685-9C49-89FF-1668-6D773380F2BB}"/>
              </a:ext>
            </a:extLst>
          </p:cNvPr>
          <p:cNvSpPr/>
          <p:nvPr/>
        </p:nvSpPr>
        <p:spPr>
          <a:xfrm>
            <a:off x="1588" y="0"/>
            <a:ext cx="12188952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4A5319-52C8-041C-DC56-0F2CAB252B13}"/>
              </a:ext>
            </a:extLst>
          </p:cNvPr>
          <p:cNvSpPr/>
          <p:nvPr/>
        </p:nvSpPr>
        <p:spPr>
          <a:xfrm>
            <a:off x="733108" y="2926080"/>
            <a:ext cx="36576" cy="1280160"/>
          </a:xfrm>
          <a:prstGeom prst="rect">
            <a:avLst/>
          </a:prstGeom>
          <a:solidFill>
            <a:srgbClr val="56B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4E8E2A-206A-2A40-C8A6-318215B8C451}"/>
              </a:ext>
            </a:extLst>
          </p:cNvPr>
          <p:cNvSpPr txBox="1"/>
          <p:nvPr/>
        </p:nvSpPr>
        <p:spPr>
          <a:xfrm>
            <a:off x="915988" y="2560321"/>
            <a:ext cx="7315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ja-JP" altLang="en-US" sz="3600" b="1" dirty="0">
                <a:solidFill>
                  <a:srgbClr val="E8E4DC"/>
                </a:solidFill>
              </a:rPr>
              <a:t>セグメント別</a:t>
            </a:r>
            <a:endParaRPr sz="3600" b="1" dirty="0">
              <a:solidFill>
                <a:srgbClr val="E8E4DC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72995-9A6F-AD74-97F9-AB707B9E5018}"/>
              </a:ext>
            </a:extLst>
          </p:cNvPr>
          <p:cNvSpPr txBox="1"/>
          <p:nvPr/>
        </p:nvSpPr>
        <p:spPr>
          <a:xfrm>
            <a:off x="915988" y="3383281"/>
            <a:ext cx="73152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ja-JP" sz="1400" dirty="0">
                <a:solidFill>
                  <a:srgbClr val="56B4D3"/>
                </a:solidFill>
              </a:rPr>
              <a:t>channel  |  prefecture</a:t>
            </a:r>
            <a:endParaRPr sz="1400" dirty="0">
              <a:solidFill>
                <a:srgbClr val="56B4D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78598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2D9D4F42-1D13-7E3D-A0F6-468A1EAA47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5" name="タイトル 4">
            <a:extLst>
              <a:ext uri="{FF2B5EF4-FFF2-40B4-BE49-F238E27FC236}">
                <a16:creationId xmlns:a16="http://schemas.microsoft.com/office/drawing/2014/main" id="{A98F71F6-A118-A1CC-A9A1-32317A136B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channel: LTV∞</a:t>
            </a:r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32A6D37E-427A-125C-6CED-CF9FB5367E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ja-JP" sz="1200" b="1" dirty="0">
                <a:solidFill>
                  <a:srgbClr val="56B4D3"/>
                </a:solidFill>
              </a:rPr>
              <a:t>TOP PICK　紹介</a:t>
            </a:r>
          </a:p>
          <a:p>
            <a:r>
              <a:rPr lang="en-US" altLang="ja-JP" sz="1200" dirty="0"/>
              <a:t>LTV∞(売上): ¥141,132（全セグメント平均比 +3.0%）　|　許容CAC上限 ¥23,522（全セグメント平均より+¥688高く設定可能）</a:t>
            </a:r>
          </a:p>
        </p:txBody>
      </p:sp>
      <p:pic>
        <p:nvPicPr>
          <p:cNvPr id="9" name="コンテンツ プレースホルダー 8">
            <a:extLst>
              <a:ext uri="{FF2B5EF4-FFF2-40B4-BE49-F238E27FC236}">
                <a16:creationId xmlns:a16="http://schemas.microsoft.com/office/drawing/2014/main" id="{D8BB76C8-B621-7BAF-D0B9-0BD8083E587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6937" y="1876425"/>
            <a:ext cx="7858125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7597B-DAEA-0F25-9A12-42BA0ED62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D59BD062-362B-45F3-CCC4-6905236040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8</a:t>
            </a:fld>
            <a:r>
              <a:rPr lang="en-US"/>
              <a:t> </a:t>
            </a:r>
            <a:endParaRPr 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BBC182A8-4C50-03AB-8BDE-A5775D374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channel: </a:t>
            </a:r>
            <a:r>
              <a:rPr kumimoji="1" lang="ja-JP" altLang="en-US" dirty="0"/>
              <a:t>分析結果のサマリー</a:t>
            </a:r>
            <a:endParaRPr lang="ja-JP" altLang="en-US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FCA2419-2532-7650-8E1C-124D3E03A676}"/>
              </a:ext>
            </a:extLst>
          </p:cNvPr>
          <p:cNvSpPr txBox="1"/>
          <p:nvPr/>
        </p:nvSpPr>
        <p:spPr>
          <a:xfrm>
            <a:off x="695325" y="5996583"/>
            <a:ext cx="10801350" cy="4078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1000" b="1" i="0" cap="all" dirty="0">
                <a:solidFill>
                  <a:srgbClr val="3A6A7A"/>
                </a:solidFill>
                <a:effectLst/>
                <a:latin typeface="BIZ UDPGothic" panose="020B0400000000000000" pitchFamily="50" charset="-128"/>
                <a:ea typeface="BIZ UDPGothic" panose="020B0400000000000000" pitchFamily="50" charset="-128"/>
              </a:rPr>
              <a:t>NOTE</a:t>
            </a:r>
            <a:r>
              <a:rPr lang="ja-JP" altLang="en-US" sz="1000" b="0" i="0" dirty="0">
                <a:solidFill>
                  <a:srgbClr val="888888"/>
                </a:solidFill>
                <a:effectLst/>
                <a:latin typeface="BIZ UDPGothic" panose="020B0400000000000000" pitchFamily="50" charset="-128"/>
                <a:ea typeface="BIZ UDPGothic" panose="020B0400000000000000" pitchFamily="50" charset="-128"/>
              </a:rPr>
              <a:t> — テーブルは最大上位10</a:t>
            </a:r>
            <a:r>
              <a:rPr lang="ja-JP" altLang="en-US" sz="1000" dirty="0">
                <a:solidFill>
                  <a:srgbClr val="88888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lang="ja-JP" altLang="en-US" sz="1000" b="0" i="0" dirty="0">
                <a:solidFill>
                  <a:srgbClr val="888888"/>
                </a:solidFill>
                <a:effectLst/>
                <a:latin typeface="BIZ UDPGothic" panose="020B0400000000000000" pitchFamily="50" charset="-128"/>
                <a:ea typeface="BIZ UDPGothic" panose="020B0400000000000000" pitchFamily="50" charset="-128"/>
              </a:rPr>
              <a:t>を表示。加重平均行は全4</a:t>
            </a:r>
            <a:r>
              <a:rPr lang="ja-JP" altLang="en-US" sz="1000" dirty="0">
                <a:solidFill>
                  <a:srgbClr val="88888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項目</a:t>
            </a:r>
            <a:r>
              <a:rPr lang="ja-JP" altLang="en-US" sz="1000" b="0" i="0" dirty="0">
                <a:solidFill>
                  <a:srgbClr val="888888"/>
                </a:solidFill>
                <a:effectLst/>
                <a:latin typeface="BIZ UDPGothic" panose="020B0400000000000000" pitchFamily="50" charset="-128"/>
                <a:ea typeface="BIZ UDPGothic" panose="020B0400000000000000" pitchFamily="50" charset="-128"/>
              </a:rPr>
              <a:t>を顧客数で重み付けした値です。全体LTV∞との差</a:t>
            </a:r>
            <a:r>
              <a:rPr lang="ja-JP" altLang="en-US" sz="1000" dirty="0">
                <a:solidFill>
                  <a:srgbClr val="888888"/>
                </a:solidFill>
                <a:latin typeface="BIZ UDPGothic" panose="020B0400000000000000" pitchFamily="50" charset="-128"/>
                <a:ea typeface="BIZ UDPGothic" panose="020B0400000000000000" pitchFamily="50" charset="-128"/>
              </a:rPr>
              <a:t>（-4.6%）</a:t>
            </a:r>
            <a:r>
              <a:rPr lang="ja-JP" altLang="en-US" sz="1000" b="0" i="0" dirty="0">
                <a:solidFill>
                  <a:srgbClr val="888888"/>
                </a:solidFill>
                <a:effectLst/>
                <a:latin typeface="BIZ UDPGothic" panose="020B0400000000000000" pitchFamily="50" charset="-128"/>
                <a:ea typeface="BIZ UDPGothic" panose="020B0400000000000000" pitchFamily="50" charset="-128"/>
              </a:rPr>
              <a:t>は統計的に正常な現象です。詳細スライドには全セグメントを掲載しています。</a:t>
            </a:r>
            <a:endParaRPr lang="ja-JP" altLang="en-US" sz="1000" dirty="0"/>
          </a:p>
        </p:txBody>
      </p:sp>
      <p:graphicFrame>
        <p:nvGraphicFramePr>
          <p:cNvPr id="6" name="コンテンツ プレースホルダー 7">
            <a:extLst>
              <a:ext uri="{FF2B5EF4-FFF2-40B4-BE49-F238E27FC236}">
                <a16:creationId xmlns:a16="http://schemas.microsoft.com/office/drawing/2014/main" id="{7772626A-0920-218E-F9B4-5C9215D18A5A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2071790717"/>
              </p:ext>
            </p:extLst>
          </p:nvPr>
        </p:nvGraphicFramePr>
        <p:xfrm>
          <a:off x="695325" y="1012825"/>
          <a:ext cx="10801348" cy="2430249"/>
        </p:xfrm>
        <a:graphic>
          <a:graphicData uri="http://schemas.openxmlformats.org/drawingml/2006/table">
            <a:tbl>
              <a:tblPr/>
              <a:tblGrid>
                <a:gridCol w="2164559">
                  <a:extLst>
                    <a:ext uri="{9D8B030D-6E8A-4147-A177-3AD203B41FA5}">
                      <a16:colId xmlns:a16="http://schemas.microsoft.com/office/drawing/2014/main" val="332055095"/>
                    </a:ext>
                  </a:extLst>
                </a:gridCol>
                <a:gridCol w="1233827">
                  <a:extLst>
                    <a:ext uri="{9D8B030D-6E8A-4147-A177-3AD203B41FA5}">
                      <a16:colId xmlns:a16="http://schemas.microsoft.com/office/drawing/2014/main" val="2856791339"/>
                    </a:ext>
                  </a:extLst>
                </a:gridCol>
                <a:gridCol w="1233827">
                  <a:extLst>
                    <a:ext uri="{9D8B030D-6E8A-4147-A177-3AD203B41FA5}">
                      <a16:colId xmlns:a16="http://schemas.microsoft.com/office/drawing/2014/main" val="1362526502"/>
                    </a:ext>
                  </a:extLst>
                </a:gridCol>
                <a:gridCol w="1233827">
                  <a:extLst>
                    <a:ext uri="{9D8B030D-6E8A-4147-A177-3AD203B41FA5}">
                      <a16:colId xmlns:a16="http://schemas.microsoft.com/office/drawing/2014/main" val="499247953"/>
                    </a:ext>
                  </a:extLst>
                </a:gridCol>
                <a:gridCol w="1233827">
                  <a:extLst>
                    <a:ext uri="{9D8B030D-6E8A-4147-A177-3AD203B41FA5}">
                      <a16:colId xmlns:a16="http://schemas.microsoft.com/office/drawing/2014/main" val="760032723"/>
                    </a:ext>
                  </a:extLst>
                </a:gridCol>
                <a:gridCol w="1233827">
                  <a:extLst>
                    <a:ext uri="{9D8B030D-6E8A-4147-A177-3AD203B41FA5}">
                      <a16:colId xmlns:a16="http://schemas.microsoft.com/office/drawing/2014/main" val="874293543"/>
                    </a:ext>
                  </a:extLst>
                </a:gridCol>
                <a:gridCol w="1233827">
                  <a:extLst>
                    <a:ext uri="{9D8B030D-6E8A-4147-A177-3AD203B41FA5}">
                      <a16:colId xmlns:a16="http://schemas.microsoft.com/office/drawing/2014/main" val="1406328275"/>
                    </a:ext>
                  </a:extLst>
                </a:gridCol>
                <a:gridCol w="1233827">
                  <a:extLst>
                    <a:ext uri="{9D8B030D-6E8A-4147-A177-3AD203B41FA5}">
                      <a16:colId xmlns:a16="http://schemas.microsoft.com/office/drawing/2014/main" val="3978438109"/>
                    </a:ext>
                  </a:extLst>
                </a:gridCol>
              </a:tblGrid>
              <a:tr h="48274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セグメント</a:t>
                      </a:r>
                    </a:p>
                  </a:txBody>
                  <a:tcPr marL="48601" marR="48601" marT="31243" marB="3124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顧客数</a:t>
                      </a:r>
                    </a:p>
                  </a:txBody>
                  <a:tcPr marL="48601" marR="48601" marT="31243" marB="3124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LTV∞（</a:t>
                      </a:r>
                      <a:r>
                        <a:rPr lang="ja-JP" alt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売上）</a:t>
                      </a:r>
                    </a:p>
                  </a:txBody>
                  <a:tcPr marL="48601" marR="48601" marT="31243" marB="3124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LTV∞（</a:t>
                      </a:r>
                      <a:r>
                        <a:rPr lang="ja-JP" altLang="en-US" sz="1000" b="1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粗利）</a:t>
                      </a:r>
                    </a:p>
                  </a:txBody>
                  <a:tcPr marL="48601" marR="48601" marT="31243" marB="3124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CAC</a:t>
                      </a:r>
                      <a:r>
                        <a:rPr lang="ja-JP" altLang="en-US" sz="1000" b="1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上限（粗利）</a:t>
                      </a:r>
                    </a:p>
                  </a:txBody>
                  <a:tcPr marL="48601" marR="48601" marT="31243" marB="3124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k</a:t>
                      </a:r>
                    </a:p>
                  </a:txBody>
                  <a:tcPr marL="48601" marR="48601" marT="31243" marB="3124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l-GR" sz="1000" b="1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λ（</a:t>
                      </a:r>
                      <a:r>
                        <a:rPr lang="ja-JP" altLang="en-US" sz="1000" b="1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日）</a:t>
                      </a:r>
                    </a:p>
                  </a:txBody>
                  <a:tcPr marL="48601" marR="48601" marT="31243" marB="3124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R²</a:t>
                      </a:r>
                    </a:p>
                  </a:txBody>
                  <a:tcPr marL="48601" marR="48601" marT="31243" marB="31243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417887"/>
                  </a:ext>
                </a:extLst>
              </a:tr>
              <a:tr h="389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紹介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1,524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¥141,132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¥70,566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¥23,522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0.806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430.9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0.993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9433631"/>
                  </a:ext>
                </a:extLst>
              </a:tr>
              <a:tr h="389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SNS広告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3,534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¥138,668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¥69,334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¥23,111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0.779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405.8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0.988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8123710"/>
                  </a:ext>
                </a:extLst>
              </a:tr>
              <a:tr h="389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検索広告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2,956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¥136,053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¥68,026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¥22,675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0.785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399.2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0.987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523394"/>
                  </a:ext>
                </a:extLst>
              </a:tr>
              <a:tr h="389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オーガニック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1,986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¥132,293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¥66,147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¥22,049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0.793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394.8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0.986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A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032116"/>
                  </a:ext>
                </a:extLst>
              </a:tr>
              <a:tr h="389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加重平均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10,000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¥137,004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¥68,502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¥22,834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—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—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ja-JP" altLang="en-US" sz="1000" dirty="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—</a:t>
                      </a:r>
                    </a:p>
                  </a:txBody>
                  <a:tcPr marL="48601" marR="48601" marT="27772" marB="27772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D1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286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29875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6C700B26-B370-7B1A-6219-7CB7240AD76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9</a:t>
            </a:fld>
            <a:r>
              <a:rPr lang="en-US"/>
              <a:t> </a:t>
            </a:r>
            <a:endParaRPr 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BFA727DE-4B13-8742-B0A9-FC8C004DA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820" y="169102"/>
            <a:ext cx="11520000" cy="659654"/>
          </a:xfrm>
        </p:spPr>
        <p:txBody>
          <a:bodyPr/>
          <a:lstStyle/>
          <a:p>
            <a:r>
              <a:rPr lang="en-US" altLang="ja-JP" dirty="0"/>
              <a:t>channel: 紹介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9DAAB78B-250A-8BDD-2FDF-476B4CB9CA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8138" y="833967"/>
            <a:ext cx="11520000" cy="681567"/>
          </a:xfrm>
        </p:spPr>
        <p:txBody>
          <a:bodyPr/>
          <a:lstStyle/>
          <a:p>
            <a:r>
              <a:rPr lang="ja-JP" altLang="en-US" dirty="0"/>
              <a:t>分析の信頼性　｜　</a:t>
            </a:r>
            <a:r>
              <a:rPr lang="zh-TW" altLang="en-US" dirty="0"/>
              <a:t>暫定 </a:t>
            </a:r>
            <a:r>
              <a:rPr lang="en-US" altLang="zh-TW" dirty="0"/>
              <a:t>LTV — </a:t>
            </a:r>
            <a:r>
              <a:rPr lang="zh-TW" altLang="en-US" dirty="0"/>
              <a:t>観測期間別</a:t>
            </a:r>
            <a:endParaRPr lang="ja-JP" altLang="en-US" dirty="0"/>
          </a:p>
          <a:p>
            <a:endParaRPr lang="ja-JP" altLang="en-US" dirty="0"/>
          </a:p>
        </p:txBody>
      </p:sp>
      <p:pic>
        <p:nvPicPr>
          <p:cNvPr id="13" name="Picture 6" descr="image.png">
            <a:extLst>
              <a:ext uri="{FF2B5EF4-FFF2-40B4-BE49-F238E27FC236}">
                <a16:creationId xmlns:a16="http://schemas.microsoft.com/office/drawing/2014/main" id="{A7711594-80DB-DFA7-3257-2B32B66066EF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027" y="1385402"/>
            <a:ext cx="4945809" cy="2850127"/>
          </a:xfrm>
          <a:prstGeom prst="rect">
            <a:avLst/>
          </a:prstGeom>
        </p:spPr>
      </p:pic>
      <p:pic>
        <p:nvPicPr>
          <p:cNvPr id="14" name="Picture 7" descr="image.png">
            <a:extLst>
              <a:ext uri="{FF2B5EF4-FFF2-40B4-BE49-F238E27FC236}">
                <a16:creationId xmlns:a16="http://schemas.microsoft.com/office/drawing/2014/main" id="{8B4BF3BE-0207-1DB9-0964-F608CC50C66E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6323433" y="1385402"/>
            <a:ext cx="4945809" cy="2850127"/>
          </a:xfrm>
          <a:prstGeom prst="rect">
            <a:avLst/>
          </a:prstGeom>
        </p:spPr>
      </p:pic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34F5385B-61A8-DCFF-1E99-BB5236797932}"/>
              </a:ext>
            </a:extLst>
          </p:cNvPr>
          <p:cNvGraphicFramePr>
            <a:graphicFrameLocks noGrp="1"/>
          </p:cNvGraphicFramePr>
          <p:nvPr/>
        </p:nvGraphicFramePr>
        <p:xfrm>
          <a:off x="914026" y="4443794"/>
          <a:ext cx="10355215" cy="1875501"/>
        </p:xfrm>
        <a:graphic>
          <a:graphicData uri="http://schemas.openxmlformats.org/drawingml/2006/table">
            <a:tbl>
              <a:tblPr/>
              <a:tblGrid>
                <a:gridCol w="2899449">
                  <a:extLst>
                    <a:ext uri="{9D8B030D-6E8A-4147-A177-3AD203B41FA5}">
                      <a16:colId xmlns:a16="http://schemas.microsoft.com/office/drawing/2014/main" val="2351957108"/>
                    </a:ext>
                  </a:extLst>
                </a:gridCol>
                <a:gridCol w="1863841">
                  <a:extLst>
                    <a:ext uri="{9D8B030D-6E8A-4147-A177-3AD203B41FA5}">
                      <a16:colId xmlns:a16="http://schemas.microsoft.com/office/drawing/2014/main" val="532809640"/>
                    </a:ext>
                  </a:extLst>
                </a:gridCol>
                <a:gridCol w="1863841">
                  <a:extLst>
                    <a:ext uri="{9D8B030D-6E8A-4147-A177-3AD203B41FA5}">
                      <a16:colId xmlns:a16="http://schemas.microsoft.com/office/drawing/2014/main" val="3945560341"/>
                    </a:ext>
                  </a:extLst>
                </a:gridCol>
                <a:gridCol w="1863841">
                  <a:extLst>
                    <a:ext uri="{9D8B030D-6E8A-4147-A177-3AD203B41FA5}">
                      <a16:colId xmlns:a16="http://schemas.microsoft.com/office/drawing/2014/main" val="1013137362"/>
                    </a:ext>
                  </a:extLst>
                </a:gridCol>
                <a:gridCol w="1864243">
                  <a:extLst>
                    <a:ext uri="{9D8B030D-6E8A-4147-A177-3AD203B41FA5}">
                      <a16:colId xmlns:a16="http://schemas.microsoft.com/office/drawing/2014/main" val="898176482"/>
                    </a:ext>
                  </a:extLst>
                </a:gridCol>
              </a:tblGrid>
              <a:tr h="2308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ホライズン</a:t>
                      </a:r>
                    </a:p>
                  </a:txBody>
                  <a:tcPr marL="70475" marR="70475" marT="45305" marB="45305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LTV（</a:t>
                      </a:r>
                      <a:r>
                        <a:rPr lang="ja-JP" alt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売上）</a:t>
                      </a:r>
                    </a:p>
                  </a:txBody>
                  <a:tcPr marL="70475" marR="70475" marT="45305" marB="45305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LTV（</a:t>
                      </a:r>
                      <a:r>
                        <a:rPr lang="ja-JP" alt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粗利）</a:t>
                      </a:r>
                    </a:p>
                  </a:txBody>
                  <a:tcPr marL="70475" marR="70475" marT="45305" marB="45305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CAC</a:t>
                      </a:r>
                      <a:r>
                        <a:rPr lang="ja-JP" alt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上限</a:t>
                      </a:r>
                    </a:p>
                  </a:txBody>
                  <a:tcPr marL="70475" marR="70475" marT="45305" marB="45305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LTV∞</a:t>
                      </a:r>
                      <a:r>
                        <a:rPr lang="ja-JP" alt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到達率</a:t>
                      </a:r>
                    </a:p>
                  </a:txBody>
                  <a:tcPr marL="70475" marR="70475" marT="45305" marB="45305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923052"/>
                  </a:ext>
                </a:extLst>
              </a:tr>
              <a:tr h="223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180日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¥8,260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¥4,130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¥1,377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5.9%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061669"/>
                  </a:ext>
                </a:extLst>
              </a:tr>
              <a:tr h="223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0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1年（365日）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¥23,093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¥11,546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¥3,849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16.4%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834007"/>
                  </a:ext>
                </a:extLst>
              </a:tr>
              <a:tr h="223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2年（730日）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¥53,606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¥26,803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¥8,934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38.0%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133818"/>
                  </a:ext>
                </a:extLst>
              </a:tr>
              <a:tr h="223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3年（1,095日）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¥78,698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¥39,349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¥13,116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55.8%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891947"/>
                  </a:ext>
                </a:extLst>
              </a:tr>
              <a:tr h="223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5年（1,825日）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¥110,699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¥55,350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¥18,450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78.4%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21435"/>
                  </a:ext>
                </a:extLst>
              </a:tr>
              <a:tr h="223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0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λ 431日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¥28,683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¥14,342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¥4,781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20.3%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530401"/>
                  </a:ext>
                </a:extLst>
              </a:tr>
              <a:tr h="2348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TW" sz="10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LTV∞到達率: 99%（4,878日）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¥139,720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¥69,860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¥23,287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99.0%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73313"/>
                  </a:ext>
                </a:extLst>
              </a:tr>
            </a:tbl>
          </a:graphicData>
        </a:graphic>
      </p:graphicFrame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13BB97B-8B33-F582-FADB-372C8C8C0A4D}"/>
              </a:ext>
            </a:extLst>
          </p:cNvPr>
          <p:cNvSpPr txBox="1"/>
          <p:nvPr/>
        </p:nvSpPr>
        <p:spPr>
          <a:xfrm>
            <a:off x="9677400" y="322730"/>
            <a:ext cx="1591841" cy="369332"/>
          </a:xfrm>
          <a:prstGeom prst="rect">
            <a:avLst/>
          </a:prstGeom>
          <a:solidFill>
            <a:srgbClr val="56B4D3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b="1" dirty="0">
                <a:solidFill>
                  <a:srgbClr val="E8E4DC"/>
                </a:solidFill>
              </a:rPr>
              <a:t>TOP PICK　</a:t>
            </a:r>
            <a:endParaRPr lang="ja-JP" altLang="en-US" dirty="0">
              <a:solidFill>
                <a:srgbClr val="E8E4DC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1">
            <a:extLst>
              <a:ext uri="{FF2B5EF4-FFF2-40B4-BE49-F238E27FC236}">
                <a16:creationId xmlns:a16="http://schemas.microsoft.com/office/drawing/2014/main" id="{50C09A5A-1E07-0B2D-64C7-6941BFE73EB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9E3E2AC-ACB3-5544-BE29-32D30D23532C}" type="slidenum">
              <a:rPr lang="en-US" smtClean="0"/>
              <a:pPr/>
              <a:t>10</a:t>
            </a:fld>
            <a:r>
              <a:rPr lang="en-US"/>
              <a:t> </a:t>
            </a:r>
            <a:endParaRPr 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9CF848CB-361A-1DD9-9CF9-92EEC38D9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channel: SNS広告</a:t>
            </a:r>
          </a:p>
        </p:txBody>
      </p:sp>
      <p:sp>
        <p:nvSpPr>
          <p:cNvPr id="10" name="テキスト プレースホルダー 9">
            <a:extLst>
              <a:ext uri="{FF2B5EF4-FFF2-40B4-BE49-F238E27FC236}">
                <a16:creationId xmlns:a16="http://schemas.microsoft.com/office/drawing/2014/main" id="{11C19A3A-1A8D-6AE5-D887-4F849F70F2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ja-JP" altLang="en-US" dirty="0"/>
              <a:t>分析の信頼性　｜　</a:t>
            </a:r>
            <a:r>
              <a:rPr lang="zh-TW" altLang="en-US" dirty="0"/>
              <a:t>暫定 </a:t>
            </a:r>
            <a:r>
              <a:rPr lang="en-US" altLang="zh-TW" dirty="0"/>
              <a:t>LTV — </a:t>
            </a:r>
            <a:r>
              <a:rPr lang="zh-TW" altLang="en-US" dirty="0"/>
              <a:t>観測期間別</a:t>
            </a:r>
            <a:endParaRPr lang="ja-JP" altLang="en-US" dirty="0"/>
          </a:p>
          <a:p>
            <a:endParaRPr lang="ja-JP" altLang="en-US" dirty="0"/>
          </a:p>
        </p:txBody>
      </p:sp>
      <p:pic>
        <p:nvPicPr>
          <p:cNvPr id="13" name="Picture 6" descr="image.png">
            <a:extLst>
              <a:ext uri="{FF2B5EF4-FFF2-40B4-BE49-F238E27FC236}">
                <a16:creationId xmlns:a16="http://schemas.microsoft.com/office/drawing/2014/main" id="{21EEA8D5-E73F-661B-54DF-2407FD36A76D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914027" y="1385402"/>
            <a:ext cx="4945809" cy="2850127"/>
          </a:xfrm>
          <a:prstGeom prst="rect">
            <a:avLst/>
          </a:prstGeom>
        </p:spPr>
      </p:pic>
      <p:pic>
        <p:nvPicPr>
          <p:cNvPr id="14" name="Picture 7" descr="image.png">
            <a:extLst>
              <a:ext uri="{FF2B5EF4-FFF2-40B4-BE49-F238E27FC236}">
                <a16:creationId xmlns:a16="http://schemas.microsoft.com/office/drawing/2014/main" id="{28655E22-549D-E447-C328-BB8CA650255B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/>
          <a:stretch>
            <a:fillRect/>
          </a:stretch>
        </p:blipFill>
        <p:spPr>
          <a:xfrm>
            <a:off x="6323433" y="1385402"/>
            <a:ext cx="4945809" cy="2850127"/>
          </a:xfrm>
          <a:prstGeom prst="rect">
            <a:avLst/>
          </a:prstGeom>
        </p:spPr>
      </p:pic>
      <p:graphicFrame>
        <p:nvGraphicFramePr>
          <p:cNvPr id="16" name="表 15">
            <a:extLst>
              <a:ext uri="{FF2B5EF4-FFF2-40B4-BE49-F238E27FC236}">
                <a16:creationId xmlns:a16="http://schemas.microsoft.com/office/drawing/2014/main" id="{1DF802CE-E36B-4D6D-0A0E-3556BF5572B4}"/>
              </a:ext>
            </a:extLst>
          </p:cNvPr>
          <p:cNvGraphicFramePr>
            <a:graphicFrameLocks noGrp="1"/>
          </p:cNvGraphicFramePr>
          <p:nvPr/>
        </p:nvGraphicFramePr>
        <p:xfrm>
          <a:off x="914026" y="4443794"/>
          <a:ext cx="10355215" cy="1875501"/>
        </p:xfrm>
        <a:graphic>
          <a:graphicData uri="http://schemas.openxmlformats.org/drawingml/2006/table">
            <a:tbl>
              <a:tblPr/>
              <a:tblGrid>
                <a:gridCol w="2899449">
                  <a:extLst>
                    <a:ext uri="{9D8B030D-6E8A-4147-A177-3AD203B41FA5}">
                      <a16:colId xmlns:a16="http://schemas.microsoft.com/office/drawing/2014/main" val="2351957108"/>
                    </a:ext>
                  </a:extLst>
                </a:gridCol>
                <a:gridCol w="1863841">
                  <a:extLst>
                    <a:ext uri="{9D8B030D-6E8A-4147-A177-3AD203B41FA5}">
                      <a16:colId xmlns:a16="http://schemas.microsoft.com/office/drawing/2014/main" val="532809640"/>
                    </a:ext>
                  </a:extLst>
                </a:gridCol>
                <a:gridCol w="1863841">
                  <a:extLst>
                    <a:ext uri="{9D8B030D-6E8A-4147-A177-3AD203B41FA5}">
                      <a16:colId xmlns:a16="http://schemas.microsoft.com/office/drawing/2014/main" val="3945560341"/>
                    </a:ext>
                  </a:extLst>
                </a:gridCol>
                <a:gridCol w="1863841">
                  <a:extLst>
                    <a:ext uri="{9D8B030D-6E8A-4147-A177-3AD203B41FA5}">
                      <a16:colId xmlns:a16="http://schemas.microsoft.com/office/drawing/2014/main" val="1013137362"/>
                    </a:ext>
                  </a:extLst>
                </a:gridCol>
                <a:gridCol w="1864243">
                  <a:extLst>
                    <a:ext uri="{9D8B030D-6E8A-4147-A177-3AD203B41FA5}">
                      <a16:colId xmlns:a16="http://schemas.microsoft.com/office/drawing/2014/main" val="898176482"/>
                    </a:ext>
                  </a:extLst>
                </a:gridCol>
              </a:tblGrid>
              <a:tr h="23081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ja-JP" alt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ホライズン</a:t>
                      </a:r>
                    </a:p>
                  </a:txBody>
                  <a:tcPr marL="70475" marR="70475" marT="45305" marB="45305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LTV（</a:t>
                      </a:r>
                      <a:r>
                        <a:rPr lang="ja-JP" alt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売上）</a:t>
                      </a:r>
                    </a:p>
                  </a:txBody>
                  <a:tcPr marL="70475" marR="70475" marT="45305" marB="45305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LTV（</a:t>
                      </a:r>
                      <a:r>
                        <a:rPr lang="ja-JP" alt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粗利）</a:t>
                      </a:r>
                    </a:p>
                  </a:txBody>
                  <a:tcPr marL="70475" marR="70475" marT="45305" marB="45305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CAC</a:t>
                      </a:r>
                      <a:r>
                        <a:rPr lang="ja-JP" alt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上限</a:t>
                      </a:r>
                    </a:p>
                  </a:txBody>
                  <a:tcPr marL="70475" marR="70475" marT="45305" marB="45305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LTV∞</a:t>
                      </a:r>
                      <a:r>
                        <a:rPr lang="ja-JP" altLang="en-US" sz="1000" b="1" dirty="0">
                          <a:solidFill>
                            <a:srgbClr val="56B4D3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到達率</a:t>
                      </a:r>
                    </a:p>
                  </a:txBody>
                  <a:tcPr marL="70475" marR="70475" marT="45305" marB="45305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4923052"/>
                  </a:ext>
                </a:extLst>
              </a:tr>
              <a:tr h="223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180日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¥8,611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¥4,305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¥1,435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6.2%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6B4D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061669"/>
                  </a:ext>
                </a:extLst>
              </a:tr>
              <a:tr h="223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1年（365日）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¥23,430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¥11,715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¥3,905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16.9%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834007"/>
                  </a:ext>
                </a:extLst>
              </a:tr>
              <a:tr h="223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2年（730日）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¥53,138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¥26,569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¥8,856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38.3%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133818"/>
                  </a:ext>
                </a:extLst>
              </a:tr>
              <a:tr h="223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3年（1,095日）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¥77,246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¥38,623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¥12,874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55.7%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0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9891947"/>
                  </a:ext>
                </a:extLst>
              </a:tr>
              <a:tr h="223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ja-JP" sz="10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5年（1,825日）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¥108,001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¥54,001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¥18,000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C8D0D8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77.9%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221435"/>
                  </a:ext>
                </a:extLst>
              </a:tr>
              <a:tr h="223173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l-GR" sz="10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λ 406日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¥26,813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¥13,407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¥4,469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19.3%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7530401"/>
                  </a:ext>
                </a:extLst>
              </a:tr>
              <a:tr h="234827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altLang="zh-TW" sz="10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LTV∞到達率: 99%（5,084日）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¥137,281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¥68,640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¥22,880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altLang="ja-JP" sz="800" dirty="0">
                          <a:solidFill>
                            <a:srgbClr val="A8DADC"/>
                          </a:solidFill>
                          <a:effectLst/>
                          <a:latin typeface="BIZ UDPGothic" panose="020B0400000000000000" pitchFamily="50" charset="-128"/>
                          <a:ea typeface="BIZ UDPGothic" panose="020B0400000000000000" pitchFamily="50" charset="-128"/>
                        </a:rPr>
                        <a:t>99.0%</a:t>
                      </a:r>
                    </a:p>
                  </a:txBody>
                  <a:tcPr marL="70475" marR="70475" marT="40272" marB="40272" anchor="ctr">
                    <a:lnL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E8E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F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5733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Gallup">
  <a:themeElements>
    <a:clrScheme name="暖かみのある青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ユーザー定義 2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 w="3175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0000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err="1" smtClean="0">
            <a:latin typeface="+mn-lt"/>
          </a:defRPr>
        </a:defPPr>
      </a:lstStyle>
    </a:txDef>
  </a:objectDefaults>
  <a:extraClrSchemeLst>
    <a:extraClrScheme>
      <a:clrScheme name="Default Design 1">
        <a:dk1>
          <a:srgbClr val="4D4F53"/>
        </a:dk1>
        <a:lt1>
          <a:srgbClr val="FFFFFF"/>
        </a:lt1>
        <a:dk2>
          <a:srgbClr val="61C250"/>
        </a:dk2>
        <a:lt2>
          <a:srgbClr val="4D4F53"/>
        </a:lt2>
        <a:accent1>
          <a:srgbClr val="C3E76F"/>
        </a:accent1>
        <a:accent2>
          <a:srgbClr val="61C250"/>
        </a:accent2>
        <a:accent3>
          <a:srgbClr val="FFFFFF"/>
        </a:accent3>
        <a:accent4>
          <a:srgbClr val="404246"/>
        </a:accent4>
        <a:accent5>
          <a:srgbClr val="DEF1BB"/>
        </a:accent5>
        <a:accent6>
          <a:srgbClr val="57B048"/>
        </a:accent6>
        <a:hlink>
          <a:srgbClr val="007934"/>
        </a:hlink>
        <a:folHlink>
          <a:srgbClr val="27593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Gallup">
      <a:dk1>
        <a:srgbClr val="404545"/>
      </a:dk1>
      <a:lt1>
        <a:srgbClr val="FFFFFF"/>
      </a:lt1>
      <a:dk2>
        <a:srgbClr val="8A9292"/>
      </a:dk2>
      <a:lt2>
        <a:srgbClr val="ECF4DE"/>
      </a:lt2>
      <a:accent1>
        <a:srgbClr val="007934"/>
      </a:accent1>
      <a:accent2>
        <a:srgbClr val="61C250"/>
      </a:accent2>
      <a:accent3>
        <a:srgbClr val="404545"/>
      </a:accent3>
      <a:accent4>
        <a:srgbClr val="B5B6B3"/>
      </a:accent4>
      <a:accent5>
        <a:srgbClr val="0096D6"/>
      </a:accent5>
      <a:accent6>
        <a:srgbClr val="EEAF30"/>
      </a:accent6>
      <a:hlink>
        <a:srgbClr val="61C250"/>
      </a:hlink>
      <a:folHlink>
        <a:srgbClr val="007934"/>
      </a:folHlink>
    </a:clrScheme>
    <a:fontScheme name="Gallup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7E106805229D45B2BFDBEF6CF958D7" ma:contentTypeVersion="2" ma:contentTypeDescription="Create a new document." ma:contentTypeScope="" ma:versionID="3869bcb694764b6e4ae112fd5b1f774d">
  <xsd:schema xmlns:xsd="http://www.w3.org/2001/XMLSchema" xmlns:xs="http://www.w3.org/2001/XMLSchema" xmlns:p="http://schemas.microsoft.com/office/2006/metadata/properties" xmlns:ns2="2534cc58-fa9f-4ff7-a1ec-f2f82b4d7b14" targetNamespace="http://schemas.microsoft.com/office/2006/metadata/properties" ma:root="true" ma:fieldsID="533959e284c5c55c10b7b85eaf08b14e" ns2:_="">
    <xsd:import namespace="2534cc58-fa9f-4ff7-a1ec-f2f82b4d7b1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34cc58-fa9f-4ff7-a1ec-f2f82b4d7b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916B181-46D2-4ED1-8DFB-AD1CC5EAD5DD}">
  <ds:schemaRefs>
    <ds:schemaRef ds:uri="http://schemas.openxmlformats.org/package/2006/metadata/core-properties"/>
    <ds:schemaRef ds:uri="2534cc58-fa9f-4ff7-a1ec-f2f82b4d7b14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94DAFF1-A4E9-4BB4-B73E-93EBE8445C7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92A9231-E996-4BFF-8346-D2DB8B6D8A5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34cc58-fa9f-4ff7-a1ec-f2f82b4d7b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90705</TotalTime>
  <Words>7250</Words>
  <Application>Microsoft Office PowerPoint</Application>
  <PresentationFormat>ワイド画面</PresentationFormat>
  <Paragraphs>2434</Paragraphs>
  <Slides>61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61</vt:i4>
      </vt:variant>
    </vt:vector>
  </HeadingPairs>
  <TitlesOfParts>
    <vt:vector size="67" baseType="lpstr">
      <vt:lpstr>BIZ UDPGothic</vt:lpstr>
      <vt:lpstr>Arial</vt:lpstr>
      <vt:lpstr>Georgia</vt:lpstr>
      <vt:lpstr>Times</vt:lpstr>
      <vt:lpstr>Wingdings</vt:lpstr>
      <vt:lpstr>Gallup</vt:lpstr>
      <vt:lpstr>PowerPoint プレゼンテーション</vt:lpstr>
      <vt:lpstr>分析結果サマリー</vt:lpstr>
      <vt:lpstr>分析の信頼性</vt:lpstr>
      <vt:lpstr>暫定 LTV — 観測期間別</vt:lpstr>
      <vt:lpstr>暫定 LTV — 観測期間別の推移グラフ</vt:lpstr>
      <vt:lpstr>PowerPoint プレゼンテーション</vt:lpstr>
      <vt:lpstr>channel: LTV∞</vt:lpstr>
      <vt:lpstr>channel: 分析結果のサマリー</vt:lpstr>
      <vt:lpstr>channel: 紹介</vt:lpstr>
      <vt:lpstr>channel: SNS広告</vt:lpstr>
      <vt:lpstr>channel: オーガニック</vt:lpstr>
      <vt:lpstr>channel: 検索広告</vt:lpstr>
      <vt:lpstr>prefecture: LTV∞</vt:lpstr>
      <vt:lpstr>prefecture：分析結果のサマリー</vt:lpstr>
      <vt:lpstr>prefecture: 福島</vt:lpstr>
      <vt:lpstr>prefecture: 三重</vt:lpstr>
      <vt:lpstr>prefecture: 京都</vt:lpstr>
      <vt:lpstr>prefecture: 佐賀</vt:lpstr>
      <vt:lpstr>prefecture: 兵庫</vt:lpstr>
      <vt:lpstr>prefecture: 北海道</vt:lpstr>
      <vt:lpstr>prefecture: 千葉</vt:lpstr>
      <vt:lpstr>prefecture: 和歌山</vt:lpstr>
      <vt:lpstr>prefecture: 埼玉</vt:lpstr>
      <vt:lpstr>prefecture: 大分</vt:lpstr>
      <vt:lpstr>prefecture: 大阪</vt:lpstr>
      <vt:lpstr>prefecture: 奈良</vt:lpstr>
      <vt:lpstr>prefecture: 宮城</vt:lpstr>
      <vt:lpstr>prefecture: 宮崎</vt:lpstr>
      <vt:lpstr>prefecture: 富山</vt:lpstr>
      <vt:lpstr>prefecture: 山口</vt:lpstr>
      <vt:lpstr>prefecture: 山形</vt:lpstr>
      <vt:lpstr>prefecture: 山梨</vt:lpstr>
      <vt:lpstr>prefecture: 岐阜</vt:lpstr>
      <vt:lpstr>prefecture: 岡山</vt:lpstr>
      <vt:lpstr>prefecture: 岩手</vt:lpstr>
      <vt:lpstr>prefecture: 島根</vt:lpstr>
      <vt:lpstr>prefecture: 広島</vt:lpstr>
      <vt:lpstr>prefecture: 徳島</vt:lpstr>
      <vt:lpstr>prefecture: 愛媛</vt:lpstr>
      <vt:lpstr>prefecture: 愛知</vt:lpstr>
      <vt:lpstr>prefecture: 新潟</vt:lpstr>
      <vt:lpstr>prefecture: 東京</vt:lpstr>
      <vt:lpstr>prefecture: 栃木</vt:lpstr>
      <vt:lpstr>prefecture: 沖縄</vt:lpstr>
      <vt:lpstr>prefecture: 滋賀</vt:lpstr>
      <vt:lpstr>prefecture: 熊本</vt:lpstr>
      <vt:lpstr>prefecture: 石川</vt:lpstr>
      <vt:lpstr>prefecture: 神奈川</vt:lpstr>
      <vt:lpstr>prefecture: 福井</vt:lpstr>
      <vt:lpstr>prefecture: 福岡</vt:lpstr>
      <vt:lpstr>prefecture: 秋田</vt:lpstr>
      <vt:lpstr>prefecture: 群馬</vt:lpstr>
      <vt:lpstr>prefecture: 茨城</vt:lpstr>
      <vt:lpstr>prefecture: 長崎</vt:lpstr>
      <vt:lpstr>prefecture: 長野</vt:lpstr>
      <vt:lpstr>prefecture: 青森</vt:lpstr>
      <vt:lpstr>prefecture: 静岡</vt:lpstr>
      <vt:lpstr>prefecture: 香川</vt:lpstr>
      <vt:lpstr>prefecture: 高知</vt:lpstr>
      <vt:lpstr>prefecture: 鳥取</vt:lpstr>
      <vt:lpstr>prefecture: 鹿児島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subject/>
  <dc:creator>h t</dc:creator>
  <cp:keywords/>
  <cp:lastModifiedBy>h t</cp:lastModifiedBy>
  <cp:revision>8</cp:revision>
  <cp:lastPrinted>2012-09-12T16:25:16Z</cp:lastPrinted>
  <dcterms:created xsi:type="dcterms:W3CDTF">2007-07-19T19:31:24Z</dcterms:created>
  <dcterms:modified xsi:type="dcterms:W3CDTF">2026-03-25T10:30:11Z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0x010100FE7E106805229D45B2BFDBEF6CF958D7</vt:lpwstr>
  </property>
</Properties>
</file>